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32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tomcat.chende.top/stu_25204149_assign_1/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5" Type="http://schemas.openxmlformats.org/officeDocument/2006/relationships/image" Target="../media/image3.svg"/><Relationship Id="rId4" Type="http://schemas.openxmlformats.org/officeDocument/2006/relationships/image" Target="../media/image3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E3F8C', position: 'relative', overflow: 'hidden' }}&gt;&#10;  &lt;Box style={{ position: 'absolute', top: 0, left: 0, width: 1280, height: 6, background: '#FFC107', opacity: 0.9 }} /&gt;&#10;  &lt;Box style={{ position: 'absolute', bottom: 0, left: 0, width: 1280, height: 180, background: '#1E4FA8' }} /&gt;&#10;  &lt;Box style={{ position: 'absolute', top: 110, right: 70, width: 400, height: 400, borderRadius: 400, border: '2px solid #3D7BD9', opacity: 0.25 }} /&gt;&#10;  &lt;Box style={{ position: 'absolute', top: 160, right: 120, width: 300, height: 300, borderRadius: 300, border: '2px solid #3D7BD9', opacity: 0.18 }} /&gt;&#10;&#10;  &lt;Box style={{ position: 'absolute', top: 56, left: 64, flexDirection: 'row', alignItems: 'center', gap: 16 }}&gt;&#10;    &lt;Box style={{ width: 8, height: 30, background: '#FFC107' }} /&gt;&#10;    &lt;Text style={{ fontSize: 24, color: '#FFFFFF', letterSpacing: 6, opacity: 0.92 }}&gt;武汉工商学院&lt;/Text&gt;&#10;  &lt;/Box&gt;&#10;&#10;  &lt;Box style={{ position: 'absolute', top: 168, left: 64, width: 1000 }}&gt;&#10;    &lt;Text style={{ fontSize: 76, fontWeight: 'bold', color: '#FFFFFF', lineHeight: 1.25 }}&gt;软件开发综合项目实训&lt;/Text&gt;&#10;    &lt;Text style={{ fontSize: 34, color: '#E8EFF8', marginTop: 26, fontWeight: 'bold' }}&gt;第 1 讲 · 课程介绍与 AI 编程入门&lt;/Text&gt;&#10;    &lt;Text style={{ fontSize: 17, color: '#8B97A8', marginTop: 18, fontFamily: 'Georgia, Times New Roman, serif', letterSpacing: 1 }}&gt;Software Development Project Training · Lecture 01 · Course Intro and AI-assisted Programming&lt;/Text&gt;&#10;  &lt;/Box&gt;&#10;&#10;  &lt;Box style={{ position: 'absolute', top: 470, left: 64, flexDirection: 'row', gap: 14, alignItems: 'center' }}&gt;&#10;    &lt;Box style={{ background: '#1E4FA8', border: '1px solid #3D7BD9', borderRadius: 999, paddingHorizontal: 18, paddingVertical: 8 }}&gt;&#10;      &lt;Text style={{ fontSize: 20, color: '#FFFFFF' }}&gt;AI 编程 · Trae Code&lt;/Text&gt;&#10;    &lt;/Box&gt;&#10;    &lt;Box style={{ background: '#1E4FA8', border: '1px solid #3D7BD9', borderRadius: 999, paddingHorizontal: 18, paddingVertical: 8 }}&gt;&#10;      &lt;Text style={{ fontSize: 20, color: '#FFFFFF' }}&gt;Java Web 项目实训&lt;/Text&gt;&#10;    &lt;/Box&gt;&#10;    &lt;Box style={{ background: '#1E4FA8', border: '1px solid #3D7BD9', borderRadius: 999, paddingHorizontal: 18, paddingVertical: 8 }}&gt;&#10;      &lt;Text style={{ fontSize: 20, color: '#FFFFFF' }}&gt;Vibe Learning&lt;/Text&gt;&#10;    &lt;/Box&gt;&#10;  &lt;/Box&gt;&#10;&#10;  &lt;Box style={{ position: 'absolute', bottom: 44, left: 64, flexDirection: 'row', alignItems: 'center', gap: 40 }}&gt;&#10;    &lt;Text style={{ fontSize: 22, color: '#FFFFFF' }}&gt;主讲：陈 德&lt;/Text&gt;&#10;    &lt;Box style={{ width: 1, height: 22, background: '#3D7BD9' }} /&gt;&#10;    &lt;Text style={{ fontSize: 22, color: '#FFFFFF' }}&gt;2026 年 9 月&lt;/Text&gt;&#10;    &lt;Box style={{ width: 1, height: 22, background: '#3D7BD9' }} /&gt;&#10;    &lt;Text style={{ fontSize: 22, color: '#FFFFFF' }}&gt;4 学分 · 64 学时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C107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矩形 3"/>
          <p:cNvSpPr/>
          <p:nvPr/>
        </p:nvSpPr>
        <p:spPr>
          <a:xfrm>
            <a:off x="-12700" y="5143500"/>
            <a:ext cx="12192000" cy="17145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" name="矩形: 圆角 4"/>
          <p:cNvSpPr/>
          <p:nvPr/>
        </p:nvSpPr>
        <p:spPr>
          <a:xfrm>
            <a:off x="7715250" y="1047750"/>
            <a:ext cx="3810000" cy="3810000"/>
          </a:xfrm>
          <a:prstGeom prst="roundRect">
            <a:avLst>
              <a:gd name="adj" fmla="val 100000"/>
            </a:avLst>
          </a:prstGeom>
          <a:ln w="25400">
            <a:solidFill>
              <a:srgbClr val="3D7BD9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: 圆角 5"/>
          <p:cNvSpPr/>
          <p:nvPr/>
        </p:nvSpPr>
        <p:spPr>
          <a:xfrm>
            <a:off x="8191500" y="1524000"/>
            <a:ext cx="2857500" cy="2857500"/>
          </a:xfrm>
          <a:prstGeom prst="roundRect">
            <a:avLst>
              <a:gd name="adj" fmla="val 100000"/>
            </a:avLst>
          </a:prstGeom>
          <a:ln w="25400">
            <a:solidFill>
              <a:srgbClr val="3D7BD9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/>
          <p:cNvSpPr/>
          <p:nvPr/>
        </p:nvSpPr>
        <p:spPr>
          <a:xfrm>
            <a:off x="609600" y="533400"/>
            <a:ext cx="76200" cy="2857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838200" y="542925"/>
            <a:ext cx="17145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spc="4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武汉工商学院</a:t>
            </a:r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609600" y="1600200"/>
            <a:ext cx="9525000" cy="1085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609600" y="2933700"/>
            <a:ext cx="95250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FF8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E8EFF8"/>
                </a:solidFill>
                <a:latin typeface="Microsoft YaHei"/>
                <a:ea typeface="Microsoft YaHei"/>
              </a:rPr>
              <a:t> 1 </a:t>
            </a:r>
            <a:r>
              <a:rPr lang="zh-CN" sz="2550" b="1">
                <a:solidFill>
                  <a:srgbClr val="E8EFF8"/>
                </a:solidFill>
                <a:latin typeface="Microsoft YaHei"/>
                <a:ea typeface="Microsoft YaHei"/>
              </a:rPr>
              <a:t>讲</a:t>
            </a:r>
            <a:r>
              <a:rPr lang="en-US" sz="2550" b="1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E8EFF8"/>
                </a:solidFill>
                <a:latin typeface="Microsoft YaHei"/>
                <a:ea typeface="Microsoft YaHei"/>
              </a:rPr>
              <a:t>课程介绍与</a:t>
            </a:r>
            <a:r>
              <a:rPr lang="en-US" sz="2550" b="1">
                <a:solidFill>
                  <a:srgbClr val="E8EFF8"/>
                </a:solidFill>
                <a:latin typeface="Microsoft YaHei"/>
                <a:ea typeface="Microsoft YaHei"/>
              </a:rPr>
              <a:t> AI </a:t>
            </a:r>
            <a:r>
              <a:rPr lang="zh-CN" sz="2550" b="1">
                <a:solidFill>
                  <a:srgbClr val="E8EFF8"/>
                </a:solidFill>
                <a:latin typeface="Microsoft YaHei"/>
                <a:ea typeface="Microsoft YaHei"/>
              </a:rPr>
              <a:t>编程入门</a:t>
            </a:r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609600" y="3495675"/>
            <a:ext cx="9525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spc="75">
                <a:solidFill>
                  <a:srgbClr val="8B97A8"/>
                </a:solidFill>
                <a:latin typeface="Georgia"/>
                <a:ea typeface="Georgia"/>
              </a:rPr>
              <a:t>Software Development Project Training · Lecture 01 · Course Intro and AI-assisted Programming</a:t>
            </a:r>
            <a:endParaRPr/>
          </a:p>
        </p:txBody>
      </p:sp>
      <p:sp>
        <p:nvSpPr>
          <p:cNvPr id="12" name="矩形: 圆角 11"/>
          <p:cNvSpPr/>
          <p:nvPr/>
        </p:nvSpPr>
        <p:spPr>
          <a:xfrm>
            <a:off x="609600" y="4476750"/>
            <a:ext cx="1704975" cy="228600"/>
          </a:xfrm>
          <a:prstGeom prst="roundRect">
            <a:avLst>
              <a:gd name="adj" fmla="val 4162500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609600" y="4476750"/>
            <a:ext cx="17049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</a:rPr>
              <a:t>编程</a:t>
            </a:r>
            <a:r>
              <a:rPr lang="en-US" sz="1500" dirty="0">
                <a:solidFill>
                  <a:srgbClr val="FFFFFF"/>
                </a:solidFill>
                <a:latin typeface="Microsoft YaHei"/>
                <a:ea typeface="Microsoft YaHei"/>
              </a:rPr>
              <a:t> · Trae Code</a:t>
            </a:r>
            <a:endParaRPr dirty="0"/>
          </a:p>
        </p:txBody>
      </p:sp>
      <p:sp>
        <p:nvSpPr>
          <p:cNvPr id="14" name="矩形: 圆角 13"/>
          <p:cNvSpPr/>
          <p:nvPr/>
        </p:nvSpPr>
        <p:spPr>
          <a:xfrm>
            <a:off x="2447925" y="4476750"/>
            <a:ext cx="1676400" cy="228600"/>
          </a:xfrm>
          <a:prstGeom prst="roundRect">
            <a:avLst>
              <a:gd name="adj" fmla="val 4162500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2447925" y="4476750"/>
            <a:ext cx="1676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Java Web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项目实训</a:t>
            </a:r>
            <a:endParaRPr/>
          </a:p>
        </p:txBody>
      </p:sp>
      <p:sp>
        <p:nvSpPr>
          <p:cNvPr id="16" name="矩形: 圆角 15"/>
          <p:cNvSpPr/>
          <p:nvPr/>
        </p:nvSpPr>
        <p:spPr>
          <a:xfrm>
            <a:off x="4257675" y="4476750"/>
            <a:ext cx="1257300" cy="228600"/>
          </a:xfrm>
          <a:prstGeom prst="roundRect">
            <a:avLst>
              <a:gd name="adj" fmla="val 4162500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4257675" y="4476750"/>
            <a:ext cx="1257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Vibe Learning</a:t>
            </a:r>
            <a:endParaRPr/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609600" y="6181725"/>
            <a:ext cx="11144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</a:rPr>
              <a:t>主讲：陈</a:t>
            </a:r>
            <a:r>
              <a:rPr lang="en-US" sz="165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</a:rPr>
              <a:t>德</a:t>
            </a:r>
            <a:r>
              <a:rPr lang="en-US" altLang="zh-CN" sz="165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650" dirty="0">
                <a:solidFill>
                  <a:srgbClr val="FFFFFF"/>
                </a:solidFill>
                <a:latin typeface="Microsoft YaHei"/>
                <a:ea typeface="Microsoft YaHei"/>
              </a:rPr>
              <a:t>（</a:t>
            </a:r>
            <a:r>
              <a:rPr lang="en-US" altLang="zh-CN" sz="1650" dirty="0">
                <a:solidFill>
                  <a:srgbClr val="FFFFFF"/>
                </a:solidFill>
                <a:latin typeface="Microsoft YaHei"/>
                <a:ea typeface="Microsoft YaHei"/>
              </a:rPr>
              <a:t>chende@wtbu.edu.cn</a:t>
            </a:r>
            <a:r>
              <a:rPr lang="zh-CN" altLang="en-US" sz="1650" dirty="0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 dirty="0"/>
          </a:p>
        </p:txBody>
      </p:sp>
      <p:sp>
        <p:nvSpPr>
          <p:cNvPr id="19" name="矩形 18"/>
          <p:cNvSpPr/>
          <p:nvPr/>
        </p:nvSpPr>
        <p:spPr>
          <a:xfrm>
            <a:off x="4314825" y="6210300"/>
            <a:ext cx="9525" cy="2095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4495800" y="6181725"/>
            <a:ext cx="12287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dirty="0">
                <a:solidFill>
                  <a:srgbClr val="FFFFFF"/>
                </a:solidFill>
                <a:latin typeface="Microsoft YaHei"/>
                <a:ea typeface="Microsoft YaHei"/>
              </a:rPr>
              <a:t>2026 </a:t>
            </a:r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</a:rPr>
              <a:t>年</a:t>
            </a:r>
            <a:r>
              <a:rPr lang="en-US" sz="1650" dirty="0">
                <a:solidFill>
                  <a:srgbClr val="FFFFFF"/>
                </a:solidFill>
                <a:latin typeface="Microsoft YaHei"/>
                <a:ea typeface="Microsoft YaHei"/>
              </a:rPr>
              <a:t> 9 </a:t>
            </a:r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endParaRPr dirty="0"/>
          </a:p>
        </p:txBody>
      </p:sp>
      <p:sp>
        <p:nvSpPr>
          <p:cNvPr id="21" name="矩形 20"/>
          <p:cNvSpPr/>
          <p:nvPr/>
        </p:nvSpPr>
        <p:spPr>
          <a:xfrm>
            <a:off x="6105525" y="6210300"/>
            <a:ext cx="9525" cy="2095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6496050" y="6181725"/>
            <a:ext cx="15144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dirty="0">
                <a:solidFill>
                  <a:srgbClr val="FFFFFF"/>
                </a:solidFill>
                <a:latin typeface="Microsoft YaHei"/>
                <a:ea typeface="Microsoft YaHei"/>
              </a:rPr>
              <a:t>4 </a:t>
            </a:r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</a:rPr>
              <a:t>学分</a:t>
            </a:r>
            <a:r>
              <a:rPr lang="en-US" sz="1650" dirty="0">
                <a:solidFill>
                  <a:srgbClr val="FFFFFF"/>
                </a:solidFill>
                <a:latin typeface="Microsoft YaHei"/>
                <a:ea typeface="Microsoft YaHei"/>
              </a:rPr>
              <a:t> · 64 </a:t>
            </a:r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</a:rPr>
              <a:t>学时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osition: 'relative', overflow: 'hidden' }}&gt;&#10;  &lt;Box style={{ position: 'absolute', top: 0, left: 0, width: 380, height: 720, background: '#0E3F8C' }}&gt;&#10;    &lt;Box style={{ position: 'absolute', top: 36, left: 252, width: 100, height: 100, borderRadius: 100, border: '2px solid #3D7BD9', opacity: 0.3 }} /&gt;&#10;    &lt;Box style={{ position: 'absolute', top: 250, left: 64 }}&gt;&#10;      &lt;Text style={{ fontSize: 64, fontWeight: 'bold', color: '#FFFFFF', letterSpacing: 10 }}&gt;目录&lt;/Text&gt;&#10;      &lt;Text style={{ fontSize: 18, color: '#8B97A8', marginTop: 16, fontFamily: 'Georgia, Times New Roman, serif', letterSpacing: 4 }}&gt;CONTENTS&lt;/Text&gt;&#10;      &lt;Box style={{ width: 56, height: 6, background: '#FFC107', marginTop: 30 }} /&gt;&#10;      &lt;Text style={{ fontSize: 20, color: '#E8EFF8', marginTop: 46, lineHeight: 1.7 }}&gt;第一次课 · 2 学时&#10;先说清楚规矩，&#10;再认识新工具，&#10;最后动手跑项目。&lt;/Text&gt;&#10;    &lt;/Box&gt;&#10;  &lt;/Box&gt;&#10;&#10;  &lt;Box style={{ position: 'absolute', top: 100, left: 448, right: 64, flexDirection: 'column', gap: 26 }}&gt;&#10;    &lt;Box style={{ flexDirection: 'row', alignItems: 'flex-start', gap: 26, background: '#F7F9FC', borderRadius: 12, padding: 24, border: '1px solid #D6DCE5' }}&gt;&#10;      &lt;Box style={{ width: 72, height: 72, background: '#1E4FA8', borderRadius: 10, justifyContent: 'center', alignItems: 'center' }}&gt;&#10;        &lt;Text style={{ fontSize: 30, fontWeight: 'bold', color: '#FFFFFF' }}&gt;01&lt;/Text&gt;&#10;      &lt;/Box&gt;&#10;      &lt;Box style={{ flex: 1 }}&gt;&#10;        &lt;Text style={{ fontSize: 28, fontWeight: 'bold', color: '#1A2230' }}&gt;课程介绍&lt;/Text&gt;&#10;        &lt;Text style={{ fontSize: 22, color: '#4A5568', marginTop: 10, lineHeight: 1.55 }}&gt;课程定位与学习方式 · 三阶段内容路线 · 考核构成（20% / 50% / 30%） · 考勤与课堂纪律要求&lt;/Text&gt;&#10;      &lt;/Box&gt;&#10;    &lt;/Box&gt;&#10;&#10;    &lt;Box style={{ flexDirection: 'row', alignItems: 'flex-start', gap: 26, background: '#F7F9FC', borderRadius: 12, padding: 24, border: '1px solid #D6DCE5' }}&gt;&#10;      &lt;Box style={{ width: 72, height: 72, background: '#1E4FA8', borderRadius: 10, justifyContent: 'center', alignItems: 'center' }}&gt;&#10;        &lt;Text style={{ fontSize: 30, fontWeight: 'bold', color: '#FFFFFF' }}&gt;02&lt;/Text&gt;&#10;      &lt;/Box&gt;&#10;      &lt;Box style={{ flex: 1 }}&gt;&#10;        &lt;Text style={{ fontSize: 28, fontWeight: 'bold', color: '#1A2230' }}&gt;AI 大模型与编程工具&lt;/Text&gt;&#10;        &lt;Text style={{ fontSize: 22, color: '#4A5568', marginTop: 10, lineHeight: 1.55 }}&gt;AI 大模型科普（大语言模型 / Prompt / Token） · AI 编程工具 Trae Code · Vibe Learning 学习理念&lt;/Text&gt;&#10;      &lt;/Box&gt;&#10;    &lt;/Box&gt;&#10;&#10;    &lt;Box style={{ flexDirection: 'row', alignItems: 'flex-start', gap: 26, background: '#F7F9FC', borderRadius: 12, padding: 24, border: '1px solid #D6DCE5' }}&gt;&#10;      &lt;Box style={{ width: 72, height: 72, background: '#1E4FA8', borderRadius: 10, justifyContent: 'center', alignItems: 'center' }}&gt;&#10;        &lt;Text style={{ fontSize: 30, fontWeight: 'bold', color: '#FFFFFF' }}&gt;03&lt;/Text&gt;&#10;      &lt;/Box&gt;&#10;      &lt;Box style={{ flex: 1 }}&gt;&#10;        &lt;Text style={{ fontSize: 28, fontWeight: 'bold', color: '#1A2230' }}&gt;体验与实践&lt;/Text&gt;&#10;        &lt;Text style={{ fontSize: 22, color: '#4A5568', marginTop: 10, lineHeight: 1.55 }}&gt;图书管理系统 AI 编程体验（Gitee 模板项目） · 软件开发流程与课程任务映射 · 课后任务与准备清单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矩形 2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9" name="矩形 228"/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0" name="矩形: 圆角 229"/>
          <p:cNvSpPr/>
          <p:nvPr/>
        </p:nvSpPr>
        <p:spPr>
          <a:xfrm>
            <a:off x="2400300" y="342900"/>
            <a:ext cx="952500" cy="952500"/>
          </a:xfrm>
          <a:prstGeom prst="roundRect">
            <a:avLst>
              <a:gd name="adj" fmla="val 100000"/>
            </a:avLst>
          </a:prstGeom>
          <a:ln w="25400">
            <a:solidFill>
              <a:srgbClr val="3D7BD9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09600" y="2381250"/>
            <a:ext cx="3619500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800" b="1" spc="750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609600" y="3267075"/>
            <a:ext cx="3619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8B97A8"/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233" name="矩形 232"/>
          <p:cNvSpPr/>
          <p:nvPr/>
        </p:nvSpPr>
        <p:spPr>
          <a:xfrm>
            <a:off x="609600" y="3762375"/>
            <a:ext cx="5334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09600" y="4257675"/>
            <a:ext cx="27432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500" dirty="0">
                <a:solidFill>
                  <a:srgbClr val="E8EFF8"/>
                </a:solidFill>
                <a:latin typeface="Microsoft YaHei"/>
                <a:ea typeface="Microsoft YaHei"/>
              </a:rPr>
              <a:t>第一次课</a:t>
            </a:r>
            <a:r>
              <a:rPr lang="en-US" sz="1500" dirty="0">
                <a:solidFill>
                  <a:srgbClr val="E8EFF8"/>
                </a:solidFill>
                <a:latin typeface="Microsoft YaHei"/>
                <a:ea typeface="Microsoft YaHei"/>
              </a:rPr>
              <a:t> · 2 </a:t>
            </a:r>
            <a:r>
              <a:rPr lang="zh-CN" sz="1500" dirty="0">
                <a:solidFill>
                  <a:srgbClr val="E8EFF8"/>
                </a:solidFill>
                <a:latin typeface="Microsoft YaHei"/>
                <a:ea typeface="Microsoft YaHei"/>
              </a:rPr>
              <a:t>学时</a:t>
            </a:r>
            <a:r>
              <a:rPr lang="en-US" sz="1500" dirty="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500" dirty="0">
                <a:solidFill>
                  <a:srgbClr val="E8EFF8"/>
                </a:solidFill>
                <a:latin typeface="Microsoft YaHei"/>
                <a:ea typeface="Microsoft YaHei"/>
              </a:rPr>
              <a:t>先说清楚规矩，</a:t>
            </a:r>
            <a:r>
              <a:rPr lang="en-US" sz="1500" dirty="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500" dirty="0">
                <a:solidFill>
                  <a:srgbClr val="E8EFF8"/>
                </a:solidFill>
                <a:latin typeface="Microsoft YaHei"/>
                <a:ea typeface="Microsoft YaHei"/>
              </a:rPr>
              <a:t>再认识新工具，</a:t>
            </a:r>
            <a:r>
              <a:rPr lang="en-US" sz="1500" dirty="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500" dirty="0">
                <a:solidFill>
                  <a:srgbClr val="E8EFF8"/>
                </a:solidFill>
                <a:latin typeface="Microsoft YaHei"/>
                <a:ea typeface="Microsoft YaHei"/>
              </a:rPr>
              <a:t>最后动手跑项目。</a:t>
            </a:r>
            <a:endParaRPr dirty="0"/>
          </a:p>
        </p:txBody>
      </p:sp>
      <p:sp>
        <p:nvSpPr>
          <p:cNvPr id="235" name="矩形: 圆角 234"/>
          <p:cNvSpPr/>
          <p:nvPr/>
        </p:nvSpPr>
        <p:spPr>
          <a:xfrm>
            <a:off x="4267200" y="952500"/>
            <a:ext cx="7315200" cy="1657350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6" name="矩形: 圆角 235"/>
          <p:cNvSpPr/>
          <p:nvPr/>
        </p:nvSpPr>
        <p:spPr>
          <a:xfrm>
            <a:off x="4495800" y="1181100"/>
            <a:ext cx="685800" cy="685800"/>
          </a:xfrm>
          <a:prstGeom prst="roundRect">
            <a:avLst>
              <a:gd name="adj" fmla="val 13889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4657725" y="1352550"/>
            <a:ext cx="361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5429250" y="1181100"/>
            <a:ext cx="59245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课程介绍</a:t>
            </a:r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5429250" y="1600200"/>
            <a:ext cx="592455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课程定位与学习方式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三阶段内容路线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考核构成（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20% / 50% / 30%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考勤与课堂纪律要求</a:t>
            </a:r>
            <a:endParaRPr/>
          </a:p>
        </p:txBody>
      </p:sp>
      <p:sp>
        <p:nvSpPr>
          <p:cNvPr id="240" name="矩形: 圆角 239"/>
          <p:cNvSpPr/>
          <p:nvPr/>
        </p:nvSpPr>
        <p:spPr>
          <a:xfrm>
            <a:off x="4267200" y="2857500"/>
            <a:ext cx="7315200" cy="1657350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1" name="矩形: 圆角 240"/>
          <p:cNvSpPr/>
          <p:nvPr/>
        </p:nvSpPr>
        <p:spPr>
          <a:xfrm>
            <a:off x="4495800" y="3086100"/>
            <a:ext cx="685800" cy="685800"/>
          </a:xfrm>
          <a:prstGeom prst="roundRect">
            <a:avLst>
              <a:gd name="adj" fmla="val 13889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4657725" y="3257550"/>
            <a:ext cx="361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5429250" y="3086100"/>
            <a:ext cx="59245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大模型与编程工具</a:t>
            </a:r>
            <a:endParaRPr/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5429250" y="3505200"/>
            <a:ext cx="592455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大模型科普（大语言模型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/ Prompt / Token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编程工具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Trae Code · Vibe Learning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学习理念</a:t>
            </a:r>
            <a:endParaRPr/>
          </a:p>
        </p:txBody>
      </p:sp>
      <p:sp>
        <p:nvSpPr>
          <p:cNvPr id="245" name="矩形: 圆角 244"/>
          <p:cNvSpPr/>
          <p:nvPr/>
        </p:nvSpPr>
        <p:spPr>
          <a:xfrm>
            <a:off x="4267200" y="4762500"/>
            <a:ext cx="7315200" cy="1657350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6" name="矩形: 圆角 245"/>
          <p:cNvSpPr/>
          <p:nvPr/>
        </p:nvSpPr>
        <p:spPr>
          <a:xfrm>
            <a:off x="4495800" y="4991100"/>
            <a:ext cx="685800" cy="685800"/>
          </a:xfrm>
          <a:prstGeom prst="roundRect">
            <a:avLst>
              <a:gd name="adj" fmla="val 13889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4657725" y="5162550"/>
            <a:ext cx="361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5429250" y="4991100"/>
            <a:ext cx="59245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体验与实践</a:t>
            </a:r>
            <a:endParaRPr/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5429250" y="5410200"/>
            <a:ext cx="592455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图书管理系统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编程体验（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Gitee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模板项目）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软件开发流程与课程任务映射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课后任务与准备清单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9FC', position: 'relative', overflow: 'hidden' }}&gt;&#10;  &lt;Box style={{ position: 'absolute', top: 0, left: 0, width: 1280, height: 6, background: '#1E4FA8' }} /&gt;&#10;  &lt;Box style={{ position: 'absolute', top: 96, left: 80 }}&gt;&#10;    &lt;Text style={{ fontSize: 300, fontWeight: 'bold', color: '#1E4FA8', opacity: 0.14, lineHeight: 1 }}&gt;01&lt;/Text&gt;&#10;  &lt;/Box&gt;&#10;&#10;  &lt;Box style={{ position: 'absolute', top: 250, left: 420, width: 740 }}&gt;&#10;    &lt;Box style={{ flexDirection: 'row', alignItems: 'center', gap: 16 }}&gt;&#10;      &lt;Box style={{ width: 48, height: 6, background: '#FFC107' }} /&gt;&#10;      &lt;Text style={{ fontSize: 20, color: '#8B97A8', letterSpacing: 6 }}&gt;PART 01&lt;/Text&gt;&#10;    &lt;/Box&gt;&#10;    &lt;Text style={{ fontSize: 62, fontWeight: 'bold', color: '#0E3F8C', marginTop: 22 }}&gt;课程介绍&lt;/Text&gt;&#10;    &lt;Text style={{ fontSize: 24, color: '#4A5568', marginTop: 34, lineHeight: 1.7 }}&gt;这门课做什么、怎么考核、什么纪律——&#10;第一件事，把规矩说清楚。&lt;/Text&gt;&#10;    &lt;Box style={{ flexDirection: 'row', gap: 14, marginTop: 44 }}&gt;&#10;      &lt;Box style={{ background: '#E8EFF8', borderRadius: 999, paddingHorizontal: 20, paddingVertical: 10 }}&gt;&#10;        &lt;Text style={{ fontSize: 20, color: '#0E3F8C' }}&gt;课程定位&lt;/Text&gt;&#10;      &lt;/Box&gt;&#10;      &lt;Box style={{ background: '#E8EFF8', borderRadius: 999, paddingHorizontal: 20, paddingVertical: 10 }}&gt;&#10;        &lt;Text style={{ fontSize: 20, color: '#0E3F8C' }}&gt;三阶段路线&lt;/Text&gt;&#10;      &lt;/Box&gt;&#10;      &lt;Box style={{ background: '#E8EFF8', borderRadius: 999, paddingHorizontal: 20, paddingVertical: 10 }}&gt;&#10;        &lt;Text style={{ fontSize: 20, color: '#0E3F8C' }}&gt;考核与纪律&lt;/Text&gt;&#10;      &lt;/Box&gt;&#10;    &lt;/Box&gt;&#10;  &lt;/Box&gt;&#10;&#10;  &lt;Box style={{ position: 'absolute', bottom: 0, left: 0, width: 1280, height: 60, background: '#0E3F8C', justifyContent: 'center', paddingHorizontal: 80, flexDirection: 'row', alignItems: 'center' }}&gt;&#10;    &lt;Text style={{ fontSize: 14, color: '#E8EFF8' }}&gt;武汉工商学院 · 软件开发综合项目实训 · 第 1 讲&lt;/Text&gt;&#10;    &lt;Box style={{ flex: 1 }} /&gt;&#10;    &lt;Text style={{ fontSize: 16, color: '#FFFFFF' }}&gt;03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矩形 2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2" name="矩形 25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762000" y="914400"/>
            <a:ext cx="3533775" cy="3429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E4FA8">
                    <a:alpha val="14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54" name="矩形 253"/>
          <p:cNvSpPr/>
          <p:nvPr/>
        </p:nvSpPr>
        <p:spPr>
          <a:xfrm>
            <a:off x="4000500" y="2466975"/>
            <a:ext cx="4572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4610100" y="2381250"/>
            <a:ext cx="11715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8B97A8"/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4000500" y="2819400"/>
            <a:ext cx="7048500" cy="714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0E3F8C"/>
                </a:solidFill>
                <a:latin typeface="Microsoft YaHei"/>
                <a:ea typeface="Microsoft YaHei"/>
              </a:rPr>
              <a:t>课程介绍</a:t>
            </a:r>
            <a:endParaRPr/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4000500" y="3857625"/>
            <a:ext cx="7048500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这门课做什么、怎么考核、什么纪律——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第一件事，把规矩说清楚。</a:t>
            </a:r>
            <a:endParaRPr/>
          </a:p>
        </p:txBody>
      </p:sp>
      <p:sp>
        <p:nvSpPr>
          <p:cNvPr id="258" name="矩形: 圆角 257"/>
          <p:cNvSpPr/>
          <p:nvPr/>
        </p:nvSpPr>
        <p:spPr>
          <a:xfrm>
            <a:off x="4000500" y="4743450"/>
            <a:ext cx="762000" cy="228600"/>
          </a:xfrm>
          <a:prstGeom prst="roundRect">
            <a:avLst>
              <a:gd name="adj" fmla="val 41625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4000500" y="4743450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0E3F8C"/>
                </a:solidFill>
                <a:latin typeface="Microsoft YaHei"/>
                <a:ea typeface="Microsoft YaHei"/>
              </a:rPr>
              <a:t>课程定位</a:t>
            </a:r>
            <a:endParaRPr/>
          </a:p>
        </p:txBody>
      </p:sp>
      <p:sp>
        <p:nvSpPr>
          <p:cNvPr id="260" name="矩形: 圆角 259"/>
          <p:cNvSpPr/>
          <p:nvPr/>
        </p:nvSpPr>
        <p:spPr>
          <a:xfrm>
            <a:off x="4895850" y="4743450"/>
            <a:ext cx="952500" cy="228600"/>
          </a:xfrm>
          <a:prstGeom prst="roundRect">
            <a:avLst>
              <a:gd name="adj" fmla="val 41625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4895850" y="4743450"/>
            <a:ext cx="952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0E3F8C"/>
                </a:solidFill>
                <a:latin typeface="Microsoft YaHei"/>
                <a:ea typeface="Microsoft YaHei"/>
              </a:rPr>
              <a:t>三阶段路线</a:t>
            </a:r>
            <a:endParaRPr/>
          </a:p>
        </p:txBody>
      </p:sp>
      <p:sp>
        <p:nvSpPr>
          <p:cNvPr id="262" name="矩形: 圆角 261"/>
          <p:cNvSpPr/>
          <p:nvPr/>
        </p:nvSpPr>
        <p:spPr>
          <a:xfrm>
            <a:off x="5981700" y="4743450"/>
            <a:ext cx="952500" cy="228600"/>
          </a:xfrm>
          <a:prstGeom prst="roundRect">
            <a:avLst>
              <a:gd name="adj" fmla="val 41625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5981700" y="4743450"/>
            <a:ext cx="952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0E3F8C"/>
                </a:solidFill>
                <a:latin typeface="Microsoft YaHei"/>
                <a:ea typeface="Microsoft YaHei"/>
              </a:rPr>
              <a:t>考核与纪律</a:t>
            </a:r>
            <a:endParaRPr/>
          </a:p>
        </p:txBody>
      </p:sp>
      <p:sp>
        <p:nvSpPr>
          <p:cNvPr id="264" name="矩形 26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0" y="6496050"/>
            <a:ext cx="2781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讲</a:t>
            </a:r>
            <a:endParaRPr/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03 / 17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9FC', position: 'relative', overflow: 'hidden' }}&gt;&#10;  &lt;Box style={{ position: 'absolute', top: 0, left: 0, width: 1280, height: 80, background: '#1E4FA8', flexDirection: 'row', alignItems: 'center', paddingHorizontal: 40 }}&gt;&#10;    &lt;Text style={{ fontSize: 16, color: '#E8EFF8', opacity: 0.85 }}&gt;软件开发综合项目实训 · 第 1 讲&lt;/Text&gt;&#10;    &lt;Box style={{ flex: 1 }} /&gt;&#10;    &lt;Text style={{ fontSize: 32, fontWeight: 'bold', color: '#FFFFFF' }}&gt;课程定位与学习方式&lt;/Text&gt;&#10;  &lt;/Box&gt;&#10;&#10;  &lt;Box style={{ position: 'absolute', top: 80, left: 40, width: 380, height: 580, background: '#0E3F8C' }}&gt;&#10;    &lt;Box style={{ padding: 28 }}&gt;&#10;      &lt;Box style={{ width: 44, height: 6, background: '#FFC107' }} /&gt;&#10;      &lt;Text style={{ fontSize: 26, fontWeight: 'bold', color: '#FFFFFF', marginTop: 18, lineHeight: 1.4 }}&gt;一门&#10;&quot;做出能跑的系统&quot;&#10;的实训课&lt;/Text&gt;&#10;      &lt;Text style={{ fontSize: 22, color: '#E8EFF8', marginTop: 16, lineHeight: 1.6 }}&gt;前面大家已经学过前端开发、Java、Java Web 课程，具备独立写代码的基础。&lt;/Text&gt;&#10;      &lt;Text style={{ fontSize: 22, color: '#E8EFF8', marginTop: 12, lineHeight: 1.6 }}&gt;本课程不再花大量时间讲编程技术，而是教大家把 AI 工具用起来，&lt;span style={{ fontWeight: 'bold', color: '#FFC107' }}&gt;用 AI 辅助学习编程技术&lt;/span&gt;。&lt;/Text&gt;&#10;      &lt;Text style={{ fontSize: 22, color: '#E8EFF8', marginTop: 12, lineHeight: 1.6 }}&gt;最终标准只有一个：&lt;span style={{ fontWeight: 'bold', color: '#FFFFFF' }}&gt;你做出的系统，要能运行、能演示、能讲清楚。&lt;/span&gt;&lt;/Text&gt;&#10;    &lt;/Box&gt;&#10;  &lt;/Box&gt;&#10;&#10;  &lt;Box style={{ position: 'absolute', top: 80, left: 460, width: 780, height: 580, flexDirection: 'column', padding: 24 }}&gt;&#10;    &lt;Text style={{ fontSize: 24, fontWeight: 'bold', color: '#1A2230' }}&gt;从已修课程到实训目标&lt;/Text&gt;&#10;    &lt;Box style={{ marginTop: 18 }}&gt;&#10;      &lt;svg width={724} height={210} viewBox='0 0 724 210'&gt;&#10;        &lt;rect x='2' y='40' width='210' height='130' rx='10' fill='#FFFFFF' stroke='#D6DCE5' strokeWidth='2' /&gt;&#10;        &lt;text x='107' y='82' textAnchor='middle' fontSize='21' fontWeight='bold' fill='#1E4FA8'&gt;已修课程&lt;/text&gt;&#10;        &lt;text x='107' y='114' textAnchor='middle' fontSize='16' fill='#4A5568'&gt;前端开发 · Java&lt;/text&gt;&#10;        &lt;text x='107' y='140' textAnchor='middle' fontSize='16' fill='#4A5568'&gt;Java Web 开发技术&lt;/text&gt;&#10;        &lt;path d='M222 105 L262 105' stroke='#3D7BD9' strokeWidth='3' /&gt;&#10;        &lt;path d='M262 105 L250 96 L250 114 Z' fill='#3D7BD9' /&gt;&#10;        &lt;rect x='272' y='40' width='210' height='130' rx='10' fill='#1E4FA8' /&gt;&#10;        &lt;text x='377' y='82' textAnchor='middle' fontSize='21' fontWeight='bold' fill='#FFFFFF'&gt;本课程&lt;/text&gt;&#10;        &lt;text x='377' y='114' textAnchor='middle' fontSize='16' fill='#E8EFF8'&gt;综合项目实训&lt;/text&gt;&#10;        &lt;text x='377' y='140' textAnchor='middle' fontSize='16' fill='#FFC107'&gt;AI 辅助 · 以项目为主线&lt;/text&gt;&#10;        &lt;path d='M492 105 L532 105' stroke='#3D7BD9' strokeWidth='3' /&gt;&#10;        &lt;path d='M532 105 L520 96 L520 114 Z' fill='#3D7BD9' /&gt;&#10;        &lt;rect x='542' y='40' width='180' height='130' rx='10' fill='#FFFFFF' stroke='#D6DCE5' strokeWidth='2' /&gt;&#10;        &lt;text x='632' y='82' textAnchor='middle' fontSize='21' fontWeight='bold' fill='#1E4FA8'&gt;能力目标&lt;/text&gt;&#10;        &lt;text x='632' y='114' textAnchor='middle' fontSize='16' fill='#4A5568'&gt;独立完成完整系统&lt;/text&gt;&#10;        &lt;text x='632' y='140' textAnchor='middle' fontSize='16' fill='#4A5568'&gt;会用 AI 提效&lt;/text&gt;&#10;      &lt;/svg&gt;&#10;    &lt;/Box&gt;&#10;&#10;    &lt;Box style={{ flexDirection: 'row', gap: 16, marginTop: 26 }}&gt;&#10;      &lt;Box style={{ flex: 1, background: '#FFFFFF', border: '1px solid #D6DCE5', borderRadius: 10, padding: 20 }}&gt;&#10;        &lt;Box style={{ flexDirection: 'row', alignItems: 'center', gap: 10 }}&gt;&#10;          &lt;FAIcon name='laptop-code' style={{ fill: '#1E4FA8', width: 26, height: 26 }} /&gt;&#10;          &lt;Text style={{ fontSize: 24, fontWeight: 'bold', color: '#1A2230' }}&gt;做什么&lt;/Text&gt;&#10;        &lt;/Box&gt;&#10;        &lt;Text style={{ fontSize: 22, color: '#4A5568', marginTop: 12, lineHeight: 1.6 }}&gt;以 Java Web 项目为主，&lt;span style={{ fontWeight: 'bold' }}&gt;前端 + 后端&lt;/span&gt; 完整实现，每人完成一个自选项目。&lt;/Text&gt;&#10;      &lt;/Box&gt;&#10;      &lt;Box style={{ flex: 1, background: '#FFFFFF', border: '1px solid #D6DCE5', borderRadius: 10, padding: 20 }}&gt;&#10;        &lt;Box style={{ flexDirection: 'row', alignItems: 'center', gap: 10 }}&gt;&#10;          &lt;FAIcon name='robot' style={{ fill: '#1E4FA8', width: 26, height: 26 }} /&gt;&#10;          &lt;Text style={{ fontSize: 24, fontWeight: 'bold', color: '#1A2230' }}&gt;怎么学&lt;/Text&gt;&#10;        &lt;/Box&gt;&#10;        &lt;Text style={{ fontSize: 22, color: '#4A5568', marginTop: 12, lineHeight: 1.6 }}&gt;把 AI 当成随时在线的助教：&lt;span style={{ fontWeight: 'bold' }}&gt;边做项目边学技术&lt;/span&gt;，不懂就问、当场验证。&lt;/Text&gt;&#10;      &lt;/Box&gt;&#10;    &lt;/Box&gt;&#10;&#10;    &lt;Box style={{ marginTop: 16, background: '#E8EFF8', borderRadius: 10, padding: '14px 20px', flexDirection: 'row', alignItems: 'center', gap: 12 }}&gt;&#10;      &lt;FAIcon name='flag-checkered' style={{ fill: '#0E3F8C', width: 26, height: 26 }} /&gt;&#10;      &lt;Text style={{ fontSize: 22, color: '#0E3F8C', lineHeight: 1.5 }}&gt;课程专题网站：&lt;span style={{ fontWeight: 'bold' }}&gt;http://wtbu.chende.top/project-ai/&lt;/span&gt;（AI 大模型科普，建议课后浏览）&lt;/Text&gt;&#10;    &lt;/Box&gt;&#10;  &lt;/Box&gt;&#10;&#10;  &lt;Box style={{ position: 'absolute', bottom: 0, left: 0, width: 1280, height: 60, background: '#0E3F8C', flexDirection: 'row', alignItems: 'center', paddingHorizontal: 40 }}&gt;&#10;    &lt;Text style={{ fontSize: 14, color: '#E8EFF8' }}&gt;武汉工商学院 · 软件开发综合项目实训&lt;/Text&gt;&#10;    &lt;Box style={{ flex: 1 }} /&gt;&#10;    &lt;Text style={{ fontSize: 16, color: '#FFFFFF' }}&gt;04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矩形 2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9" name="矩形 268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9448800" y="200025"/>
            <a:ext cx="27432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课程定位与学习方式</a:t>
            </a:r>
            <a:endParaRPr/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0" y="285750"/>
            <a:ext cx="21431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软件开发综合项目实训</a:t>
            </a: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讲</a:t>
            </a:r>
            <a:endParaRPr/>
          </a:p>
        </p:txBody>
      </p:sp>
      <p:sp>
        <p:nvSpPr>
          <p:cNvPr id="272" name="矩形 271"/>
          <p:cNvSpPr/>
          <p:nvPr/>
        </p:nvSpPr>
        <p:spPr>
          <a:xfrm>
            <a:off x="381000" y="762000"/>
            <a:ext cx="361950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3" name="矩形 272"/>
          <p:cNvSpPr/>
          <p:nvPr/>
        </p:nvSpPr>
        <p:spPr>
          <a:xfrm>
            <a:off x="647700" y="1028700"/>
            <a:ext cx="4191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647700" y="1257300"/>
            <a:ext cx="3086100" cy="838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一门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 "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做出能跑的系统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"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的实训课</a:t>
            </a:r>
            <a:endParaRPr/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47700" y="2247900"/>
            <a:ext cx="3086100" cy="1209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前面大家已经学过前端开发、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Java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、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Java Web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课程，具备独立写代码的基础。</a:t>
            </a:r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47700" y="3477044"/>
            <a:ext cx="3086100" cy="1209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 dirty="0">
                <a:solidFill>
                  <a:srgbClr val="E8EFF8"/>
                </a:solidFill>
                <a:latin typeface="Microsoft YaHei"/>
                <a:ea typeface="Microsoft YaHei"/>
              </a:rPr>
              <a:t>本课程不再花大量时间讲编程技术，而是教大家把</a:t>
            </a:r>
            <a:r>
              <a:rPr lang="en-US" sz="1650" dirty="0">
                <a:solidFill>
                  <a:srgbClr val="E8EFF8"/>
                </a:solidFill>
                <a:latin typeface="Microsoft YaHei"/>
                <a:ea typeface="Microsoft YaHei"/>
              </a:rPr>
              <a:t> AI </a:t>
            </a:r>
            <a:r>
              <a:rPr lang="zh-CN" sz="1650" dirty="0">
                <a:solidFill>
                  <a:srgbClr val="E8EFF8"/>
                </a:solidFill>
                <a:latin typeface="Microsoft YaHei"/>
                <a:ea typeface="Microsoft YaHei"/>
              </a:rPr>
              <a:t>工具用起来，</a:t>
            </a:r>
            <a:r>
              <a:rPr lang="zh-CN" sz="1650" b="1" dirty="0">
                <a:solidFill>
                  <a:srgbClr val="FFC107"/>
                </a:solidFill>
                <a:latin typeface="Microsoft YaHei"/>
                <a:ea typeface="Microsoft YaHei"/>
              </a:rPr>
              <a:t>用</a:t>
            </a:r>
            <a:r>
              <a:rPr lang="en-US" sz="1650" b="1" dirty="0">
                <a:solidFill>
                  <a:srgbClr val="FFC107"/>
                </a:solidFill>
                <a:latin typeface="Microsoft YaHei"/>
                <a:ea typeface="Microsoft YaHei"/>
              </a:rPr>
              <a:t> AI </a:t>
            </a:r>
            <a:r>
              <a:rPr lang="zh-CN" sz="1650" b="1" dirty="0">
                <a:solidFill>
                  <a:srgbClr val="FFC107"/>
                </a:solidFill>
                <a:latin typeface="Microsoft YaHei"/>
                <a:ea typeface="Microsoft YaHei"/>
              </a:rPr>
              <a:t>辅助学习编程技术</a:t>
            </a:r>
            <a:r>
              <a:rPr lang="zh-CN" sz="1650" dirty="0">
                <a:solidFill>
                  <a:srgbClr val="E8EFF8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647700" y="4895850"/>
            <a:ext cx="3086100" cy="1209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最终标准只有一个：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你做出的系统，要能运行、能演示、能讲清楚。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4610100" y="990600"/>
            <a:ext cx="69723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从已修课程到实训目标</a:t>
            </a:r>
            <a:endParaRPr/>
          </a:p>
        </p:txBody>
      </p:sp>
      <p:pic>
        <p:nvPicPr>
          <p:cNvPr id="279" name="图形 27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0100" y="1438275"/>
            <a:ext cx="6896100" cy="2000250"/>
          </a:xfrm>
          <a:prstGeom prst="rect">
            <a:avLst/>
          </a:prstGeom>
          <a:ln/>
        </p:spPr>
      </p:pic>
      <p:sp>
        <p:nvSpPr>
          <p:cNvPr id="280" name="矩形: 圆角 279"/>
          <p:cNvSpPr/>
          <p:nvPr/>
        </p:nvSpPr>
        <p:spPr>
          <a:xfrm>
            <a:off x="4610100" y="3301867"/>
            <a:ext cx="3409950" cy="19812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1" name="图形 2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00" y="3511417"/>
            <a:ext cx="247650" cy="247650"/>
          </a:xfrm>
          <a:prstGeom prst="rect">
            <a:avLst/>
          </a:prstGeom>
          <a:ln/>
        </p:spPr>
      </p:pic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5143500" y="3492367"/>
            <a:ext cx="685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做什么</a:t>
            </a:r>
            <a:endParaRPr/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4800600" y="3882892"/>
            <a:ext cx="3028950" cy="1209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650" dirty="0">
                <a:solidFill>
                  <a:srgbClr val="4A5568"/>
                </a:solidFill>
                <a:latin typeface="Microsoft YaHei"/>
                <a:ea typeface="Microsoft YaHei"/>
              </a:rPr>
              <a:t> Java Web </a:t>
            </a: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项目为主，</a:t>
            </a:r>
            <a:r>
              <a:rPr lang="zh-CN" sz="1650" b="1" dirty="0">
                <a:solidFill>
                  <a:srgbClr val="4A5568"/>
                </a:solidFill>
                <a:latin typeface="Microsoft YaHei"/>
                <a:ea typeface="Microsoft YaHei"/>
              </a:rPr>
              <a:t>前端</a:t>
            </a:r>
            <a:r>
              <a:rPr lang="en-US" sz="1650" b="1" dirty="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650" b="1" dirty="0">
                <a:solidFill>
                  <a:srgbClr val="4A5568"/>
                </a:solidFill>
                <a:latin typeface="Microsoft YaHei"/>
                <a:ea typeface="Microsoft YaHei"/>
              </a:rPr>
              <a:t>后端</a:t>
            </a:r>
            <a:r>
              <a:rPr lang="en-US" sz="1650" dirty="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完整实现，每人完成一个自选项目。</a:t>
            </a:r>
            <a:endParaRPr dirty="0"/>
          </a:p>
        </p:txBody>
      </p:sp>
      <p:sp>
        <p:nvSpPr>
          <p:cNvPr id="284" name="矩形: 圆角 283"/>
          <p:cNvSpPr/>
          <p:nvPr/>
        </p:nvSpPr>
        <p:spPr>
          <a:xfrm>
            <a:off x="8172450" y="3301867"/>
            <a:ext cx="3409950" cy="19812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5" name="图形 28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2950" y="3511417"/>
            <a:ext cx="247650" cy="247650"/>
          </a:xfrm>
          <a:prstGeom prst="rect">
            <a:avLst/>
          </a:prstGeom>
          <a:ln/>
        </p:spPr>
      </p:pic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8705850" y="3492367"/>
            <a:ext cx="685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怎么学</a:t>
            </a:r>
            <a:endParaRPr/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62950" y="3882892"/>
            <a:ext cx="3028950" cy="1209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把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当成随时在线的助教：</a:t>
            </a:r>
            <a:r>
              <a:rPr lang="zh-CN" sz="1650" b="1">
                <a:solidFill>
                  <a:srgbClr val="4A5568"/>
                </a:solidFill>
                <a:latin typeface="Microsoft YaHei"/>
                <a:ea typeface="Microsoft YaHei"/>
              </a:rPr>
              <a:t>边做项目边学技术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，不懂就问、当场验证。</a:t>
            </a:r>
            <a:endParaRPr/>
          </a:p>
        </p:txBody>
      </p:sp>
      <p:sp>
        <p:nvSpPr>
          <p:cNvPr id="288" name="矩形: 圆角 287"/>
          <p:cNvSpPr/>
          <p:nvPr/>
        </p:nvSpPr>
        <p:spPr>
          <a:xfrm>
            <a:off x="4610100" y="5368373"/>
            <a:ext cx="6972300" cy="829920"/>
          </a:xfrm>
          <a:prstGeom prst="roundRect">
            <a:avLst>
              <a:gd name="adj" fmla="val 9259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9" name="图形 28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8050" y="5541067"/>
            <a:ext cx="247650" cy="247650"/>
          </a:xfrm>
          <a:prstGeom prst="rect">
            <a:avLst/>
          </a:prstGeom>
          <a:ln/>
        </p:spPr>
      </p:pic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5048251" y="5436292"/>
            <a:ext cx="634365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650" dirty="0">
                <a:solidFill>
                  <a:srgbClr val="0E3F8C"/>
                </a:solidFill>
                <a:latin typeface="Microsoft YaHei"/>
                <a:ea typeface="Microsoft YaHei"/>
              </a:rPr>
              <a:t>课程专题网站：</a:t>
            </a:r>
            <a:r>
              <a:rPr lang="en-US" sz="1650" b="1" dirty="0">
                <a:solidFill>
                  <a:srgbClr val="0E3F8C"/>
                </a:solidFill>
                <a:latin typeface="Microsoft YaHei"/>
                <a:ea typeface="Microsoft YaHei"/>
              </a:rPr>
              <a:t>http://wtbu.chende.top/project-ai/</a:t>
            </a:r>
            <a:r>
              <a:rPr lang="zh-CN" sz="1650" dirty="0">
                <a:solidFill>
                  <a:srgbClr val="0E3F8C"/>
                </a:solidFill>
                <a:latin typeface="Microsoft YaHei"/>
                <a:ea typeface="Microsoft YaHei"/>
              </a:rPr>
              <a:t>（</a:t>
            </a:r>
            <a:r>
              <a:rPr lang="en-US" sz="1650" dirty="0">
                <a:solidFill>
                  <a:srgbClr val="0E3F8C"/>
                </a:solidFill>
                <a:latin typeface="Microsoft YaHei"/>
                <a:ea typeface="Microsoft YaHei"/>
              </a:rPr>
              <a:t>AI </a:t>
            </a:r>
            <a:r>
              <a:rPr lang="zh-CN" sz="1650" dirty="0">
                <a:solidFill>
                  <a:srgbClr val="0E3F8C"/>
                </a:solidFill>
                <a:latin typeface="Microsoft YaHei"/>
                <a:ea typeface="Microsoft YaHei"/>
              </a:rPr>
              <a:t>大模型科普，建议课后浏览）</a:t>
            </a:r>
            <a:endParaRPr dirty="0"/>
          </a:p>
        </p:txBody>
      </p:sp>
      <p:sp>
        <p:nvSpPr>
          <p:cNvPr id="291" name="矩形 29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0" y="6496050"/>
            <a:ext cx="2247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1677650" y="5960167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04 / 17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osition: 'relative', overflow: 'hidden' }}&gt;&#10;  &lt;Box style={{ position: 'absolute', top: 0, left: 0, width: 1280, height: 80, background: '#1E4FA8', flexDirection: 'row', alignItems: 'center', paddingHorizontal: 40 }}&gt;&#10;    &lt;Text style={{ fontSize: 16, color: '#E8EFF8', opacity: 0.85 }}&gt;01 课程介绍&lt;/Text&gt;&#10;    &lt;Box style={{ flex: 1 }} /&gt;&#10;    &lt;Text style={{ fontSize: 32, fontWeight: 'bold', color: '#FFFFFF' }}&gt;三阶段内容路线&lt;/Text&gt;&#10;  &lt;/Box&gt;&#10;&#10;  &lt;Box style={{ position: 'absolute', top: 96, left: 40, width: 1200 }}&gt;&#10;    &lt;svg width={1200} height={150} viewBox='0 0 1200 150'&gt;&#10;      &lt;line x1='60' y1='66' x2='1140' y2='66' stroke='#D6DCE5' strokeWidth='3' /&gt;&#10;      &lt;circle cx='170' cy='66' r='26' fill='#1E4FA8' /&gt;&#10;      &lt;text x='170' y='74' textAnchor='middle' fontSize='22' fontWeight='bold' fill='#FFFFFF'&gt;1&lt;/text&gt;&#10;      &lt;circle cx='600' cy='66' r='26' fill='#1E4FA8' /&gt;&#10;      &lt;text x='600' y='74' textAnchor='middle' fontSize='22' fontWeight='bold' fill='#FFFFFF'&gt;2&lt;/text&gt;&#10;      &lt;circle cx='1030' cy='66' r='26' fill='#0E3F8C' /&gt;&#10;      &lt;text x='1030' y='74' textAnchor='middle' fontSize='22' fontWeight='bold' fill='#FFFFFF'&gt;3&lt;/text&gt;&#10;      &lt;text x='170' y='120' textAnchor='middle' fontSize='20' fontWeight='bold' fill='#0E3F8C'&gt;科普与工具入门&lt;/text&gt;&#10;      &lt;text x='600' y='120' textAnchor='middle' fontSize='20' fontWeight='bold' fill='#0E3F8C'&gt;模板项目体验&lt;/text&gt;&#10;      &lt;text x='1030' y='120' textAnchor='middle' fontSize='20' fontWeight='bold' fill='#0E3F8C'&gt;自己的项目&lt;/text&gt;&#10;    &lt;/svg&gt;&#10;  &lt;/Box&gt;&#10;&#10;  &lt;Box style={{ position: 'absolute', top: 268, left: 40, width: 1200, flexDirection: 'row', gap: 20 }}&gt;&#10;    &lt;Box style={{ width: 360, background: '#F7F9FC', border: '1px solid #D6DCE5', borderRadius: 12, padding: 24 }}&gt;&#10;      &lt;Box style={{ flexDirection: 'row', alignItems: 'center', gap: 10 }}&gt;&#10;        &lt;FAIcon name='book-open' style={{ fill: '#1E4FA8', width: 28, height: 28 }} /&gt;&#10;        &lt;Text style={{ fontSize: 24, fontWeight: 'bold', color: '#1A2230' }}&gt;阶段一 · 认识 AI&lt;/Text&gt;&#10;      &lt;/Box&gt;&#10;      &lt;Text style={{ fontSize: 22, color: '#4A5568', marginTop: 14, lineHeight: 1.65 }}&gt;科普 AI 大模型的基本概念与使用方式；介绍 AI 编程工具 Trae Code；理解 Vibe Learning 学习理念，建立&quot;AI 辅助学习&quot;的方法论。&lt;/Text&gt;&#10;      &lt;Box style={{ marginTop: 18, background: '#E8EFF8', borderRadius: 8, padding: '10px 14px' }}&gt;&#10;        &lt;Text style={{ fontSize: 18, color: '#0E3F8C' }}&gt;关键词：大模型 · Prompt · Trae Code&lt;/Text&gt;&#10;      &lt;/Box&gt;&#10;    &lt;/Box&gt;&#10;&#10;    &lt;Box style={{ width: 360, background: '#F7F9FC', border: '1px solid #D6DCE5', borderRadius: 12, padding: 24 }}&gt;&#10;      &lt;Box style={{ flexDirection: 'row', alignItems: 'center', gap: 10 }}&gt;&#10;        &lt;FAIcon name='flask' style={{ fill: '#1E4FA8', width: 28, height: 28 }} /&gt;&#10;        &lt;Text style={{ fontSize: 24, fontWeight: 'bold', color: '#1A2230' }}&gt;阶段二 · 体验 AI 编程&lt;/Text&gt;&#10;      &lt;/Box&gt;&#10;      &lt;Text style={{ fontSize: 22, color: '#4A5568', marginTop: 14, lineHeight: 1.65 }}&gt;带大家用 Trae Code 完成图书管理系统模板项目，在真实代码里体验 AI 编程的完整过程，同时熟悉软件开发的基本流程。&lt;/Text&gt;&#10;      &lt;Box style={{ marginTop: 18, background: '#E8EFF8', borderRadius: 8, padding: '10px 14px' }}&gt;&#10;        &lt;Text style={{ fontSize: 18, color: '#0E3F8C' }}&gt;关键词：图书管理 · 开发流程&lt;/Text&gt;&#10;      &lt;/Box&gt;&#10;    &lt;/Box&gt;&#10;&#10;    &lt;Box style={{ width: 400, background: '#0E3F8C', borderRadius: 12, padding: 24 }}&gt;&#10;      &lt;Box style={{ flexDirection: 'row', alignItems: 'center', gap: 10 }}&gt;&#10;        &lt;FAIcon name='rocket' style={{ fill: '#FFC107', width: 28, height: 28 }} /&gt;&#10;        &lt;Text style={{ fontSize: 24, fontWeight: 'bold', color: '#FFFFFF' }}&gt;阶段三 · 做自己的项目&lt;/Text&gt;&#10;      &lt;/Box&gt;&#10;      &lt;Text style={{ fontSize: 22, color: '#E8EFF8', marginTop: 14, lineHeight: 1.65 }}&gt;使用 software-project-training-skills 系列 Skill 完成选题、需求分析、系统设计；用 Trae Code 编码实现；最后完成测试，走向验收答辩。&lt;/Text&gt;&#10;      &lt;Box style={{ marginTop: 18, background: '#1E4FA8', borderRadius: 8, padding: '10px 14px' }}&gt;&#10;        &lt;Text style={{ fontSize: 18, color: '#FFC107' }}&gt;关键词：选题 · 设计 · 编码 · 测试&lt;/Text&gt;&#10;      &lt;/Box&gt;&#10;    &lt;/Box&gt;&#10;  &lt;/Box&gt;&#10;&#10;  &lt;Box style={{ position: 'absolute', top: 596, left: 40, width: 1200, background: '#E8EFF8', borderRadius: 10, padding: '14px 22px', flexDirection: 'row', alignItems: 'center', gap: 12 }}&gt;&#10;    &lt;FAIcon name='lightbulb' style={{ fill: '#0E3F8C', width: 26, height: 26 }} /&gt;&#10;    &lt;Text style={{ fontSize: 22, color: '#0E3F8C' }}&gt;三个阶段循序渐进：&lt;span style={{ fontWeight: 'bold' }}&gt;先会用 AI → 再跟着做 → 最后独立做&lt;/span&gt;，每一步都对应考核得分点。&lt;/Text&gt;&#10;  &lt;/Box&gt;&#10;&#10;  &lt;Box style={{ position: 'absolute', bottom: 0, left: 0, width: 1280, height: 60, background: '#0E3F8C', flexDirection: 'row', alignItems: 'center', paddingHorizontal: 40 }}&gt;&#10;    &lt;Text style={{ fontSize: 14, color: '#E8EFF8' }}&gt;武汉工商学院 · 软件开发综合项目实训&lt;/Text&gt;&#10;    &lt;Box style={{ flex: 1 }} /&gt;&#10;    &lt;Text style={{ fontSize: 16, color: '#FFFFFF' }}&gt;05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 2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6" name="矩形 29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058400" y="200025"/>
            <a:ext cx="21336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三阶段内容路线</a:t>
            </a:r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0" y="285750"/>
            <a:ext cx="83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01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课程介绍</a:t>
            </a:r>
            <a:endParaRPr/>
          </a:p>
        </p:txBody>
      </p:sp>
      <p:pic>
        <p:nvPicPr>
          <p:cNvPr id="299" name="图形 29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437328"/>
            <a:ext cx="11430000" cy="1428750"/>
          </a:xfrm>
          <a:prstGeom prst="rect">
            <a:avLst/>
          </a:prstGeom>
          <a:ln/>
        </p:spPr>
      </p:pic>
      <p:sp>
        <p:nvSpPr>
          <p:cNvPr id="300" name="矩形: 圆角 299"/>
          <p:cNvSpPr/>
          <p:nvPr/>
        </p:nvSpPr>
        <p:spPr>
          <a:xfrm>
            <a:off x="381000" y="1896726"/>
            <a:ext cx="3429000" cy="3724275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1" name="图形 30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2134851"/>
            <a:ext cx="266700" cy="266700"/>
          </a:xfrm>
          <a:prstGeom prst="rect">
            <a:avLst/>
          </a:prstGeom>
          <a:ln/>
        </p:spPr>
      </p:pic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971550" y="2125326"/>
            <a:ext cx="17049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阶段一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认识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AI</a:t>
            </a:r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609600" y="2534901"/>
            <a:ext cx="2971800" cy="2076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科普</a:t>
            </a:r>
            <a:r>
              <a:rPr lang="en-US" sz="1650" dirty="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大模型的基本概念与使用方式；介绍</a:t>
            </a:r>
            <a:r>
              <a:rPr lang="en-US" sz="1650" dirty="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编程工具</a:t>
            </a:r>
            <a:r>
              <a:rPr lang="en-US" sz="1650" dirty="0">
                <a:solidFill>
                  <a:srgbClr val="4A5568"/>
                </a:solidFill>
                <a:latin typeface="Microsoft YaHei"/>
                <a:ea typeface="Microsoft YaHei"/>
              </a:rPr>
              <a:t> Trae Code</a:t>
            </a: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；理解</a:t>
            </a:r>
            <a:r>
              <a:rPr lang="en-US" sz="1650" dirty="0">
                <a:solidFill>
                  <a:srgbClr val="4A5568"/>
                </a:solidFill>
                <a:latin typeface="Microsoft YaHei"/>
                <a:ea typeface="Microsoft YaHei"/>
              </a:rPr>
              <a:t> Vibe Learning </a:t>
            </a: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学习理念，建立</a:t>
            </a:r>
            <a:r>
              <a:rPr lang="en-US" sz="1650" dirty="0">
                <a:solidFill>
                  <a:srgbClr val="4A5568"/>
                </a:solidFill>
                <a:latin typeface="Microsoft YaHei"/>
                <a:ea typeface="Microsoft YaHei"/>
              </a:rPr>
              <a:t>"AI </a:t>
            </a: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辅助学习</a:t>
            </a:r>
            <a:r>
              <a:rPr lang="en-US" sz="1650" dirty="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的方法论。</a:t>
            </a:r>
            <a:endParaRPr dirty="0"/>
          </a:p>
        </p:txBody>
      </p:sp>
      <p:sp>
        <p:nvSpPr>
          <p:cNvPr id="304" name="矩形: 圆角 303"/>
          <p:cNvSpPr/>
          <p:nvPr/>
        </p:nvSpPr>
        <p:spPr>
          <a:xfrm>
            <a:off x="609600" y="4782801"/>
            <a:ext cx="297180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714375" y="4918430"/>
            <a:ext cx="27051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1350" dirty="0">
                <a:solidFill>
                  <a:srgbClr val="0E3F8C"/>
                </a:solidFill>
                <a:latin typeface="Microsoft YaHei"/>
                <a:ea typeface="Microsoft YaHei"/>
              </a:rPr>
              <a:t>关键词：大模型</a:t>
            </a:r>
            <a:r>
              <a:rPr lang="en-US" sz="1350" dirty="0">
                <a:solidFill>
                  <a:srgbClr val="0E3F8C"/>
                </a:solidFill>
                <a:latin typeface="Microsoft YaHei"/>
                <a:ea typeface="Microsoft YaHei"/>
              </a:rPr>
              <a:t> · Prompt · Trae Code</a:t>
            </a:r>
            <a:endParaRPr dirty="0"/>
          </a:p>
        </p:txBody>
      </p:sp>
      <p:sp>
        <p:nvSpPr>
          <p:cNvPr id="306" name="矩形: 圆角 305"/>
          <p:cNvSpPr/>
          <p:nvPr/>
        </p:nvSpPr>
        <p:spPr>
          <a:xfrm>
            <a:off x="4000500" y="1896726"/>
            <a:ext cx="3429000" cy="3724275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7" name="图形 3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9100" y="2134851"/>
            <a:ext cx="266700" cy="266700"/>
          </a:xfrm>
          <a:prstGeom prst="rect">
            <a:avLst/>
          </a:prstGeom>
          <a:ln/>
        </p:spPr>
      </p:pic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4591050" y="2125326"/>
            <a:ext cx="22288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阶段二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体验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编程</a:t>
            </a:r>
            <a:endParaRPr/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4229100" y="2534901"/>
            <a:ext cx="2971800" cy="1666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带大家用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Trae Code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完成图书管理系统模板项目，在真实代码里体验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编程的完整过程，同时熟悉软件开发的基本流程。</a:t>
            </a:r>
            <a:endParaRPr/>
          </a:p>
        </p:txBody>
      </p:sp>
      <p:sp>
        <p:nvSpPr>
          <p:cNvPr id="310" name="矩形: 圆角 309"/>
          <p:cNvSpPr/>
          <p:nvPr/>
        </p:nvSpPr>
        <p:spPr>
          <a:xfrm>
            <a:off x="4229100" y="4373226"/>
            <a:ext cx="2971800" cy="400050"/>
          </a:xfrm>
          <a:prstGeom prst="roundRect">
            <a:avLst>
              <a:gd name="adj" fmla="val 19048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4362450" y="4468476"/>
            <a:ext cx="2705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关键词：图书管理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开发流程</a:t>
            </a:r>
            <a:endParaRPr/>
          </a:p>
        </p:txBody>
      </p:sp>
      <p:sp>
        <p:nvSpPr>
          <p:cNvPr id="312" name="矩形: 圆角 311"/>
          <p:cNvSpPr/>
          <p:nvPr/>
        </p:nvSpPr>
        <p:spPr>
          <a:xfrm>
            <a:off x="7620000" y="1896726"/>
            <a:ext cx="3810000" cy="3724275"/>
          </a:xfrm>
          <a:prstGeom prst="roundRect">
            <a:avLst>
              <a:gd name="adj" fmla="val 3069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3" name="图形 3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8600" y="2134851"/>
            <a:ext cx="266700" cy="266700"/>
          </a:xfrm>
          <a:prstGeom prst="rect">
            <a:avLst/>
          </a:prstGeom>
          <a:ln/>
        </p:spPr>
      </p:pic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8210550" y="2125326"/>
            <a:ext cx="22955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阶段三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做自己的项目</a:t>
            </a:r>
            <a:endParaRPr/>
          </a:p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7848600" y="2534901"/>
            <a:ext cx="3352800" cy="2076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使用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 software-project-training-skills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系列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 Skill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完成选题、需求分析、系统设计；用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 Trae Code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编码实现；最后完成测试，走向验收答辩。</a:t>
            </a:r>
            <a:endParaRPr/>
          </a:p>
        </p:txBody>
      </p:sp>
      <p:sp>
        <p:nvSpPr>
          <p:cNvPr id="316" name="矩形: 圆角 315"/>
          <p:cNvSpPr/>
          <p:nvPr/>
        </p:nvSpPr>
        <p:spPr>
          <a:xfrm>
            <a:off x="7848600" y="4357351"/>
            <a:ext cx="3352800" cy="400050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7981950" y="4470268"/>
            <a:ext cx="3086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FFC107"/>
                </a:solidFill>
                <a:latin typeface="Microsoft YaHei"/>
                <a:ea typeface="Microsoft YaHei"/>
              </a:rPr>
              <a:t>关键词：选题</a:t>
            </a:r>
            <a:r>
              <a:rPr lang="en-US" sz="1350">
                <a:solidFill>
                  <a:srgbClr val="FFC107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FFC107"/>
                </a:solidFill>
                <a:latin typeface="Microsoft YaHei"/>
                <a:ea typeface="Microsoft YaHei"/>
              </a:rPr>
              <a:t>设计</a:t>
            </a:r>
            <a:r>
              <a:rPr lang="en-US" sz="1350">
                <a:solidFill>
                  <a:srgbClr val="FFC107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FFC107"/>
                </a:solidFill>
                <a:latin typeface="Microsoft YaHei"/>
                <a:ea typeface="Microsoft YaHei"/>
              </a:rPr>
              <a:t>编码</a:t>
            </a:r>
            <a:r>
              <a:rPr lang="en-US" sz="1350">
                <a:solidFill>
                  <a:srgbClr val="FFC107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FFC107"/>
                </a:solidFill>
                <a:latin typeface="Microsoft YaHei"/>
                <a:ea typeface="Microsoft YaHei"/>
              </a:rPr>
              <a:t>测试</a:t>
            </a:r>
            <a:endParaRPr/>
          </a:p>
        </p:txBody>
      </p:sp>
      <p:sp>
        <p:nvSpPr>
          <p:cNvPr id="318" name="矩形: 圆角 317"/>
          <p:cNvSpPr/>
          <p:nvPr/>
        </p:nvSpPr>
        <p:spPr>
          <a:xfrm>
            <a:off x="381000" y="5776295"/>
            <a:ext cx="11430000" cy="523875"/>
          </a:xfrm>
          <a:prstGeom prst="roundRect">
            <a:avLst>
              <a:gd name="adj" fmla="val 18182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9" name="图形 3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550" y="5919170"/>
            <a:ext cx="247650" cy="247650"/>
          </a:xfrm>
          <a:prstGeom prst="rect">
            <a:avLst/>
          </a:prstGeom>
          <a:ln/>
        </p:spPr>
      </p:pic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952500" y="5909645"/>
            <a:ext cx="80867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0E3F8C"/>
                </a:solidFill>
                <a:latin typeface="Microsoft YaHei"/>
                <a:ea typeface="Microsoft YaHei"/>
              </a:rPr>
              <a:t>三个阶段循序渐进：</a:t>
            </a:r>
            <a:r>
              <a:rPr lang="zh-CN" sz="1650" b="1" dirty="0">
                <a:solidFill>
                  <a:srgbClr val="0E3F8C"/>
                </a:solidFill>
                <a:latin typeface="Microsoft YaHei"/>
                <a:ea typeface="Microsoft YaHei"/>
              </a:rPr>
              <a:t>先会用</a:t>
            </a:r>
            <a:r>
              <a:rPr lang="en-US" sz="1650" b="1" dirty="0">
                <a:solidFill>
                  <a:srgbClr val="0E3F8C"/>
                </a:solidFill>
                <a:latin typeface="Microsoft YaHei"/>
                <a:ea typeface="Microsoft YaHei"/>
              </a:rPr>
              <a:t> AI → </a:t>
            </a:r>
            <a:r>
              <a:rPr lang="zh-CN" sz="1650" b="1" dirty="0">
                <a:solidFill>
                  <a:srgbClr val="0E3F8C"/>
                </a:solidFill>
                <a:latin typeface="Microsoft YaHei"/>
                <a:ea typeface="Microsoft YaHei"/>
              </a:rPr>
              <a:t>再跟着做</a:t>
            </a:r>
            <a:r>
              <a:rPr lang="en-US" sz="1650" b="1" dirty="0">
                <a:solidFill>
                  <a:srgbClr val="0E3F8C"/>
                </a:solidFill>
                <a:latin typeface="Microsoft YaHei"/>
                <a:ea typeface="Microsoft YaHei"/>
              </a:rPr>
              <a:t> → </a:t>
            </a:r>
            <a:r>
              <a:rPr lang="zh-CN" sz="1650" b="1" dirty="0">
                <a:solidFill>
                  <a:srgbClr val="0E3F8C"/>
                </a:solidFill>
                <a:latin typeface="Microsoft YaHei"/>
                <a:ea typeface="Microsoft YaHei"/>
              </a:rPr>
              <a:t>最后独立做</a:t>
            </a:r>
            <a:r>
              <a:rPr lang="zh-CN" sz="1650" dirty="0">
                <a:solidFill>
                  <a:srgbClr val="0E3F8C"/>
                </a:solidFill>
                <a:latin typeface="Microsoft YaHei"/>
                <a:ea typeface="Microsoft YaHei"/>
              </a:rPr>
              <a:t>，每一步都对应考核得分点。</a:t>
            </a:r>
            <a:endParaRPr dirty="0"/>
          </a:p>
        </p:txBody>
      </p:sp>
      <p:sp>
        <p:nvSpPr>
          <p:cNvPr id="321" name="矩形 32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0" y="6496050"/>
            <a:ext cx="2247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05 / 17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E3F8C', position: 'relative', overflow: 'hidden' }}&gt;&#10;  &lt;Box style={{ position: 'absolute', top: 0, right: 0, width: 300, height: 300, borderRadius: 300, border: '2px solid #3D7BD9', opacity: 0.3 }} /&gt;&#10;  &lt;Box style={{ position: 'absolute', top: 0, left: 0, width: 1280, height: 80, flexDirection: 'row', alignItems: 'center', paddingHorizontal: 40 }}&gt;&#10;    &lt;Text style={{ fontSize: 16, color: '#E8EFF8', opacity: 0.85 }}&gt;01 课程介绍&lt;/Text&gt;&#10;    &lt;Box style={{ flex: 1 }} /&gt;&#10;    &lt;Text style={{ fontSize: 32, fontWeight: 'bold', color: '#FFFFFF' }}&gt;课程考核&lt;/Text&gt;&#10;  &lt;/Box&gt;&#10;&#10;  &lt;Box style={{ position: 'absolute', top: 132, left: 40, width: 1200, flexDirection: 'row', gap: 24 }}&gt;&#10;    &lt;Box style={{ flex: 1, background: '#1E4FA8', borderRadius: 14, padding: '28px 24px', border: '1px solid #3D7BD9' }}&gt;&#10;      &lt;Text style={{ fontSize: 104, fontWeight: 'bold', color: '#FFFFFF', lineHeight: 1 }}&gt;20&lt;span style={{ fontSize: 48 }}&gt;%&lt;/span&gt;&lt;/Text&gt;&#10;      &lt;Text style={{ fontSize: 26, fontWeight: 'bold', color: '#FFC107', marginTop: 16 }}&gt;课堂表现&lt;/Text&gt;&#10;      &lt;Text style={{ fontSize: 20, color: '#E8EFF8', marginTop: 14, lineHeight: 1.6 }}&gt;遵守纪律、按时出勤、服从管理、设计态度；严重纪律问题可按学校规定直接评为不及格。&lt;/Text&gt;&#10;    &lt;/Box&gt;&#10;    &lt;Box style={{ flex: 1.25, background: '#FFFFFF', borderRadius: 14, padding: '28px 24px' }}&gt;&#10;      &lt;Text style={{ fontSize: 104, fontWeight: 'bold', color: '#0E3F8C', lineHeight: 1 }}&gt;50&lt;span style={{ fontSize: 48 }}&gt;%&lt;/span&gt;&lt;/Text&gt;&#10;      &lt;Text style={{ fontSize: 26, fontWeight: 'bold', color: '#0E3F8C', marginTop: 16 }}&gt;设计报告&lt;/Text&gt;&#10;      &lt;Text style={{ fontSize: 20, color: '#4A5568', marginTop: 14, lineHeight: 1.6 }}&gt;选题 + 需求分析 + 系统设计文档 + &lt;span style={{ fontWeight: 'bold', color: '#0E3F8C' }}&gt;AI 使用情况&lt;/span&gt;，按文档内容撰写与格式排版情况给分。&lt;/Text&gt;&#10;    &lt;/Box&gt;&#10;    &lt;Box style={{ flex: 1, background: '#1E4FA8', borderRadius: 14, padding: '28px 24px', border: '1px solid #3D7BD9' }}&gt;&#10;      &lt;Text style={{ fontSize: 104, fontWeight: 'bold', color: '#FFFFFF', lineHeight: 1 }}&gt;30&lt;span style={{ fontSize: 48 }}&gt;%&lt;/span&gt;&lt;/Text&gt;&#10;      &lt;Text style={{ fontSize: 26, fontWeight: 'bold', color: '#FFC107', marginTop: 16 }}&gt;答辩&lt;/Text&gt;&#10;      &lt;Text style={{ fontSize: 20, color: '#E8EFF8', marginTop: 14, lineHeight: 1.6 }}&gt;现场验收系统，回答至少 3 个相关问题；按系统完成质量与答辩表现评分。&lt;/Text&gt;&#10;    &lt;/Box&gt;&#10;  &lt;/Box&gt;&#10;&#10;  &lt;Box style={{ position: 'absolute', top: 540, left: 40, width: 1200, background: '#FFC107', borderRadius: 10, padding: '14px 22px', flexDirection: 'row', alignItems: 'center', gap: 12 }}&gt;&#10;    &lt;FAIcon name='exclamation-circle' style={{ fill: '#0E3F8C', width: 28, height: 28 }} /&gt;&#10;    &lt;Text style={{ fontSize: 23, fontWeight: 'bold', color: '#0E3F8C' }}&gt;注意：AI 使用情况单独计入成绩——会用 AI、用得好、讲得清楚，直接影响你的 50 分。&lt;/Text&gt;&#10;  &lt;/Box&gt;&#10;&#10;  &lt;Box style={{ position: 'absolute', bottom: 0, left: 0, width: 1280, height: 60, background: '#1E4FA8', flexDirection: 'row', alignItems: 'center', paddingHorizontal: 40 }}&gt;&#10;    &lt;Text style={{ fontSize: 14, color: '#E8EFF8' }}&gt;武汉工商学院 · 软件开发综合项目实训&lt;/Text&gt;&#10;    &lt;Box style={{ flex: 1 }} /&gt;&#10;    &lt;Text style={{ fontSize: 16, color: '#FFFFFF' }}&gt;06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矩形 3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6" name="矩形: 圆角 325"/>
          <p:cNvSpPr/>
          <p:nvPr/>
        </p:nvSpPr>
        <p:spPr>
          <a:xfrm>
            <a:off x="9334500" y="0"/>
            <a:ext cx="2857500" cy="2857500"/>
          </a:xfrm>
          <a:prstGeom prst="roundRect">
            <a:avLst>
              <a:gd name="adj" fmla="val 100000"/>
            </a:avLst>
          </a:prstGeom>
          <a:ln w="25400">
            <a:solidFill>
              <a:srgbClr val="3D7BD9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10972800" y="200025"/>
            <a:ext cx="12192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课程考核</a:t>
            </a:r>
            <a:endParaRPr/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0" y="285750"/>
            <a:ext cx="83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01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课程介绍</a:t>
            </a:r>
            <a:endParaRPr/>
          </a:p>
        </p:txBody>
      </p:sp>
      <p:sp>
        <p:nvSpPr>
          <p:cNvPr id="329" name="矩形: 圆角 328"/>
          <p:cNvSpPr/>
          <p:nvPr/>
        </p:nvSpPr>
        <p:spPr>
          <a:xfrm>
            <a:off x="381000" y="1257300"/>
            <a:ext cx="3371850" cy="3419475"/>
          </a:xfrm>
          <a:prstGeom prst="roundRect">
            <a:avLst>
              <a:gd name="adj" fmla="val 3955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609600" y="1524000"/>
            <a:ext cx="2914650" cy="1190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FFFFF"/>
                </a:solidFill>
                <a:latin typeface="Microsoft YaHei"/>
                <a:ea typeface="Microsoft YaHei"/>
              </a:rPr>
              <a:t>20</a:t>
            </a: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609600" y="2867025"/>
            <a:ext cx="2914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C107"/>
                </a:solidFill>
                <a:latin typeface="Microsoft YaHei"/>
                <a:ea typeface="Microsoft YaHei"/>
              </a:rPr>
              <a:t>课堂表现</a:t>
            </a:r>
            <a:endParaRPr/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09600" y="3305175"/>
            <a:ext cx="2914650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遵守纪律、按时出勤、服从管理、设计态度；严重纪律问题可按学校规定直接评为不及格。</a:t>
            </a:r>
            <a:endParaRPr/>
          </a:p>
        </p:txBody>
      </p:sp>
      <p:sp>
        <p:nvSpPr>
          <p:cNvPr id="333" name="矩形: 圆角 332"/>
          <p:cNvSpPr/>
          <p:nvPr/>
        </p:nvSpPr>
        <p:spPr>
          <a:xfrm>
            <a:off x="3981450" y="1257300"/>
            <a:ext cx="4229100" cy="3419475"/>
          </a:xfrm>
          <a:prstGeom prst="roundRect">
            <a:avLst>
              <a:gd name="adj" fmla="val 39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4210050" y="1524000"/>
            <a:ext cx="3771900" cy="1190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0E3F8C"/>
                </a:solidFill>
                <a:latin typeface="Microsoft YaHei"/>
                <a:ea typeface="Microsoft YaHei"/>
              </a:rPr>
              <a:t>50</a:t>
            </a:r>
            <a:r>
              <a:rPr lang="en-US" sz="3600" b="1">
                <a:solidFill>
                  <a:srgbClr val="0E3F8C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4210050" y="2867025"/>
            <a:ext cx="3771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设计报告</a:t>
            </a:r>
            <a:endParaRPr/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4210050" y="3305175"/>
            <a:ext cx="3771900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选题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需求分析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系统设计文档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AI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使用情况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，按文档内容撰写与格式排版情况给分。</a:t>
            </a:r>
            <a:endParaRPr/>
          </a:p>
        </p:txBody>
      </p:sp>
      <p:sp>
        <p:nvSpPr>
          <p:cNvPr id="337" name="矩形: 圆角 336"/>
          <p:cNvSpPr/>
          <p:nvPr/>
        </p:nvSpPr>
        <p:spPr>
          <a:xfrm>
            <a:off x="8439150" y="1257300"/>
            <a:ext cx="3371850" cy="3419475"/>
          </a:xfrm>
          <a:prstGeom prst="roundRect">
            <a:avLst>
              <a:gd name="adj" fmla="val 3955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8667750" y="1524000"/>
            <a:ext cx="2914650" cy="1190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FFFFF"/>
                </a:solidFill>
                <a:latin typeface="Microsoft YaHei"/>
                <a:ea typeface="Microsoft YaHei"/>
              </a:rPr>
              <a:t>30</a:t>
            </a: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8667750" y="2867025"/>
            <a:ext cx="2914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C107"/>
                </a:solidFill>
                <a:latin typeface="Microsoft YaHei"/>
                <a:ea typeface="Microsoft YaHei"/>
              </a:rPr>
              <a:t>答辩</a:t>
            </a:r>
            <a:endParaRPr/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8667750" y="3305175"/>
            <a:ext cx="2914650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现场验收系统，回答至少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> 3 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个相关问题；按系统完成质量与答辩表现评分。</a:t>
            </a:r>
            <a:endParaRPr/>
          </a:p>
        </p:txBody>
      </p:sp>
      <p:sp>
        <p:nvSpPr>
          <p:cNvPr id="341" name="矩形: 圆角 340"/>
          <p:cNvSpPr/>
          <p:nvPr/>
        </p:nvSpPr>
        <p:spPr>
          <a:xfrm>
            <a:off x="381000" y="5143500"/>
            <a:ext cx="11430000" cy="533400"/>
          </a:xfrm>
          <a:prstGeom prst="roundRect">
            <a:avLst>
              <a:gd name="adj" fmla="val 17857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42" name="图形 3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550" y="5276850"/>
            <a:ext cx="266700" cy="266700"/>
          </a:xfrm>
          <a:prstGeom prst="rect">
            <a:avLst/>
          </a:prstGeom>
          <a:ln/>
        </p:spPr>
      </p:pic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971550" y="5276850"/>
            <a:ext cx="87153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注意：</a:t>
            </a: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>AI </a:t>
            </a: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使用情况单独计入成绩——会用</a:t>
            </a: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> AI</a:t>
            </a: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、用得好、讲得清楚，直接影响你的</a:t>
            </a: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> 50 </a:t>
            </a: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分。</a:t>
            </a:r>
            <a:endParaRPr/>
          </a:p>
        </p:txBody>
      </p:sp>
      <p:sp>
        <p:nvSpPr>
          <p:cNvPr id="344" name="矩形 34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0" y="6496050"/>
            <a:ext cx="2247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06 / 17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9FC', position: 'relative', overflow: 'hidden' }}&gt;&#10;  &lt;Box style={{ position: 'absolute', top: 0, left: 0, width: 1280, height: 80, background: '#1E4FA8', flexDirection: 'row', alignItems: 'center', paddingHorizontal: 40 }}&gt;&#10;    &lt;Text style={{ fontSize: 16, color: '#E8EFF8', opacity: 0.85 }}&gt;01 课程介绍&lt;/Text&gt;&#10;    &lt;Box style={{ flex: 1 }} /&gt;&#10;    &lt;Text style={{ fontSize: 32, fontWeight: 'bold', color: '#FFFFFF' }}&gt;课程纪律要求&lt;/Text&gt;&#10;  &lt;/Box&gt;&#10;&#10;  &lt;Box style={{ position: 'absolute', top: 100, left: 40, width: 760, height: 544, background: '#FFFFFF', border: '1px solid #D6DCE5', borderRadius: 12, padding: 28 }}&gt;&#10;    &lt;Box style={{ flexDirection: 'row', alignItems: 'center', gap: 12 }}&gt;&#10;      &lt;FAIcon name='calendar-check' style={{ fill: '#1E4FA8', width: 32, height: 32 }} /&gt;&#10;      &lt;Text style={{ fontSize: 26, fontWeight: 'bold', color: '#1A2230' }}&gt;考勤要求&lt;/Text&gt;&#10;      &lt;Box style={{ background: '#E8EFF8', borderRadius: 999, paddingHorizontal: 14, paddingVertical: 6 }}&gt;&#10;        &lt;Text style={{ fontSize: 18, color: '#0E3F8C' }}&gt;计入课堂表现 20%&lt;/Text&gt;&#10;      &lt;/Box&gt;&#10;    &lt;/Box&gt;&#10;    &lt;Box style={{ marginTop: 22, flexDirection: 'column', gap: 18 }}&gt;&#10;      &lt;Box style={{ flexDirection: 'row', alignItems: 'flex-start', gap: 12 }}&gt;&#10;        &lt;FAIcon name='check-circle' style={{ fill: '#1E4FA8', width: 26, height: 26, marginTop: 3 }} /&gt;&#10;        &lt;Text style={{ fontSize: 22, color: '#4A5568', lineHeight: 1.6, flex: 1 }}&gt;按时出勤，&lt;span style={{ fontWeight: 'bold', color: '#1A2230' }}&gt;不得无故旷课&lt;/span&gt;；签到点名通过学习通进行。&lt;/Text&gt;&#10;      &lt;/Box&gt;&#10;      &lt;Box style={{ flexDirection: 'row', alignItems: 'flex-start', gap: 12 }}&gt;&#10;        &lt;FAIcon name='exclamation-triangle' style={{ fill: '#D9534F', width: 26, height: 26, marginTop: 3 }} /&gt;&#10;        &lt;Text style={{ fontSize: 22, color: '#4A5568', lineHeight: 1.6, flex: 1 }}&gt;无故旷课一次即&lt;span style={{ fontWeight: 'bold', color: '#D9534F' }}&gt;扣平时分&lt;/span&gt;；缺勤记录随时可查。&lt;/Text&gt;&#10;      &lt;/Box&gt;&#10;      &lt;Box style={{ flexDirection: 'row', alignItems: 'flex-start', gap: 12 }}&gt;&#10;        &lt;FAIcon name='exclamation-triangle' style={{ fill: '#D9534F', width: 26, height: 26, marginTop: 3 }} /&gt;&#10;        &lt;Text style={{ fontSize: 22, color: '#4A5568', lineHeight: 1.6, flex: 1 }}&gt;多次旷课、屡教不改者，&lt;span style={{ fontWeight: 'bold', color: '#D9534F' }}&gt;名单告知辅导员甚至书记&lt;/span&gt;，并按学校规定给予&lt;span style={{ fontWeight: 'bold', color: '#D9534F' }}&gt;旷课处分&lt;/span&gt;。&lt;/Text&gt;&#10;      &lt;/Box&gt;&#10;      &lt;Box style={{ flexDirection: 'row', alignItems: 'flex-start', gap: 12 }}&gt;&#10;        &lt;FAIcon name='info-circle' style={{ fill: '#8B97A8', width: 26, height: 26, marginTop: 3 }} /&gt;&#10;        &lt;Text style={{ fontSize: 22, color: '#4A5568', lineHeight: 1.6, flex: 1 }}&gt;确有特殊情况，请提前向老师请假说明，不要让缺勤变成误会。&lt;/Text&gt;&#10;      &lt;/Box&gt;&#10;    &lt;/Box&gt;&#10;  &lt;/Box&gt;&#10;&#10;  &lt;Box style={{ position: 'absolute', top: 100, left: 824, width: 416, height: 544, background: '#0E3F8C', borderRadius: 12, padding: 28 }}&gt;&#10;    &lt;Box style={{ flexDirection: 'row', alignItems: 'center', gap: 12 }}&gt;&#10;      &lt;FAIcon name='mobile' style={{ fill: '#FFC107', width: 32, height: 32 }} /&gt;&#10;      &lt;Text style={{ fontSize: 26, fontWeight: 'bold', color: '#FFFFFF' }}&gt;课堂手机管理&lt;/Text&gt;&#10;    &lt;/Box&gt;&#10;    &lt;Box style={{ marginTop: 24, background: '#1E4FA8', borderRadius: 10, padding: 18 }}&gt;&#10;      &lt;Text style={{ fontSize: 20, color: '#E8EFF8', lineHeight: 1.65 }}&gt;&lt;span style={{ fontWeight: 'bold', color: '#FFFFFF' }}&gt;① 课前&lt;/span&gt;&#10;手机放入手机袋；&#10;登录好 Trae Code、Gitee 等工具。&lt;/Text&gt;&#10;    &lt;/Box&gt;&#10;    &lt;Box style={{ marginTop: 16, background: '#1E4FA8', borderRadius: 10, padding: 18 }}&gt;&#10;      &lt;Text style={{ fontSize: 20, color: '#E8EFF8', lineHeight: 1.65 }}&gt;&lt;span style={{ fontWeight: 'bold', color: '#FFFFFF' }}&gt;② 课中&lt;/span&gt;&#10;需要用手机登录账号时，&#10;&lt;span style={{ fontWeight: 'bold', color: '#FFC107' }}&gt;先和老师说明&lt;/span&gt;再使用。&lt;/Text&gt;&#10;    &lt;/Box&gt;&#10;    &lt;Box style={{ marginTop: 16, background: '#1E4FA8', borderRadius: 10, padding: 18 }}&gt;&#10;      &lt;Text style={{ fontSize: 20, color: '#E8EFF8', lineHeight: 1.65 }}&gt;&lt;span style={{ fontWeight: 'bold', color: '#FFFFFF' }}&gt;③ 用完&lt;/span&gt;&#10;及时放回手机袋，&#10;保持课堂专注。&lt;/Text&gt;&#10;    &lt;/Box&gt;&#10;  &lt;/Box&gt;&#10;&#10;  &lt;Box style={{ position: 'absolute', bottom: 0, left: 0, width: 1280, height: 60, background: '#0E3F8C', flexDirection: 'row', alignItems: 'center', paddingHorizontal: 40 }}&gt;&#10;    &lt;Text style={{ fontSize: 14, color: '#E8EFF8' }}&gt;武汉工商学院 · 软件开发综合项目实训&lt;/Text&gt;&#10;    &lt;Box style={{ flex: 1 }} /&gt;&#10;    &lt;Text style={{ fontSize: 16, color: '#FFFFFF' }}&gt;07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矩形 3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9" name="矩形 348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10363200" y="200025"/>
            <a:ext cx="18288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课程纪律要求</a:t>
            </a:r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0" y="285750"/>
            <a:ext cx="83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01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课程介绍</a:t>
            </a:r>
            <a:endParaRPr/>
          </a:p>
        </p:txBody>
      </p:sp>
      <p:sp>
        <p:nvSpPr>
          <p:cNvPr id="352" name="矩形: 圆角 351"/>
          <p:cNvSpPr/>
          <p:nvPr/>
        </p:nvSpPr>
        <p:spPr>
          <a:xfrm>
            <a:off x="381000" y="952500"/>
            <a:ext cx="7239000" cy="51816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3" name="图形 3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" y="1219200"/>
            <a:ext cx="304800" cy="304800"/>
          </a:xfrm>
          <a:prstGeom prst="rect">
            <a:avLst/>
          </a:prstGeom>
          <a:ln/>
        </p:spPr>
      </p:pic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1066800" y="1219200"/>
            <a:ext cx="9906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考勤要求</a:t>
            </a:r>
            <a:endParaRPr/>
          </a:p>
        </p:txBody>
      </p:sp>
      <p:sp>
        <p:nvSpPr>
          <p:cNvPr id="355" name="矩形: 圆角 354"/>
          <p:cNvSpPr/>
          <p:nvPr/>
        </p:nvSpPr>
        <p:spPr>
          <a:xfrm>
            <a:off x="2171700" y="1266825"/>
            <a:ext cx="1438275" cy="209550"/>
          </a:xfrm>
          <a:prstGeom prst="roundRect">
            <a:avLst>
              <a:gd name="adj" fmla="val 4540909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2171700" y="1266825"/>
            <a:ext cx="1438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计入课堂表现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 20%</a:t>
            </a:r>
            <a:endParaRPr/>
          </a:p>
        </p:txBody>
      </p:sp>
      <p:pic>
        <p:nvPicPr>
          <p:cNvPr id="357" name="图形 3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" y="1762125"/>
            <a:ext cx="247650" cy="247650"/>
          </a:xfrm>
          <a:prstGeom prst="rect">
            <a:avLst/>
          </a:prstGeom>
          <a:ln/>
        </p:spPr>
      </p:pic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1009650" y="1733550"/>
            <a:ext cx="6343650" cy="409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按时出勤，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不得无故旷课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；签到点名通过学习通进行。</a:t>
            </a:r>
            <a:endParaRPr/>
          </a:p>
        </p:txBody>
      </p:sp>
      <p:pic>
        <p:nvPicPr>
          <p:cNvPr id="359" name="图形 3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" y="2343150"/>
            <a:ext cx="247650" cy="247650"/>
          </a:xfrm>
          <a:prstGeom prst="rect">
            <a:avLst/>
          </a:prstGeom>
          <a:ln/>
        </p:spPr>
      </p:pic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1009650" y="2314575"/>
            <a:ext cx="6343650" cy="409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无故旷课一次即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扣平时分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；缺勤记录随时可查。</a:t>
            </a:r>
            <a:endParaRPr/>
          </a:p>
        </p:txBody>
      </p:sp>
      <p:pic>
        <p:nvPicPr>
          <p:cNvPr id="361" name="图形 36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" y="2924175"/>
            <a:ext cx="247650" cy="247650"/>
          </a:xfrm>
          <a:prstGeom prst="rect">
            <a:avLst/>
          </a:prstGeom>
          <a:ln/>
        </p:spPr>
      </p:pic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1009650" y="2895600"/>
            <a:ext cx="6343650" cy="809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多次旷课、屡教不改者，</a:t>
            </a:r>
            <a:r>
              <a:rPr lang="zh-CN" sz="1650" b="1" dirty="0">
                <a:solidFill>
                  <a:srgbClr val="D9534F"/>
                </a:solidFill>
                <a:latin typeface="Microsoft YaHei"/>
                <a:ea typeface="Microsoft YaHei"/>
              </a:rPr>
              <a:t>名单</a:t>
            </a:r>
            <a:r>
              <a:rPr lang="zh-CN" altLang="en-US" sz="1650" b="1" dirty="0">
                <a:solidFill>
                  <a:srgbClr val="D9534F"/>
                </a:solidFill>
                <a:latin typeface="Microsoft YaHei"/>
                <a:ea typeface="Microsoft YaHei"/>
              </a:rPr>
              <a:t>提交</a:t>
            </a:r>
            <a:r>
              <a:rPr lang="zh-CN" sz="1650" b="1" dirty="0">
                <a:solidFill>
                  <a:srgbClr val="D9534F"/>
                </a:solidFill>
                <a:latin typeface="Microsoft YaHei"/>
                <a:ea typeface="Microsoft YaHei"/>
              </a:rPr>
              <a:t>辅导员甚至书记</a:t>
            </a: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，并按学校规定给予</a:t>
            </a:r>
            <a:r>
              <a:rPr lang="zh-CN" sz="1650" b="1" dirty="0">
                <a:solidFill>
                  <a:srgbClr val="D9534F"/>
                </a:solidFill>
                <a:latin typeface="Microsoft YaHei"/>
                <a:ea typeface="Microsoft YaHei"/>
              </a:rPr>
              <a:t>旷课处分</a:t>
            </a: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  <p:pic>
        <p:nvPicPr>
          <p:cNvPr id="363" name="图形 36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" y="3905250"/>
            <a:ext cx="247650" cy="247650"/>
          </a:xfrm>
          <a:prstGeom prst="rect">
            <a:avLst/>
          </a:prstGeom>
          <a:ln/>
        </p:spPr>
      </p:pic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1009650" y="3876675"/>
            <a:ext cx="6343650" cy="409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确有特殊情况，请提前向老师请假说明，不要让缺勤变成误会。</a:t>
            </a:r>
            <a:endParaRPr/>
          </a:p>
        </p:txBody>
      </p:sp>
      <p:sp>
        <p:nvSpPr>
          <p:cNvPr id="365" name="矩形: 圆角 364"/>
          <p:cNvSpPr/>
          <p:nvPr/>
        </p:nvSpPr>
        <p:spPr>
          <a:xfrm>
            <a:off x="7848600" y="952500"/>
            <a:ext cx="3962400" cy="5181600"/>
          </a:xfrm>
          <a:prstGeom prst="roundRect">
            <a:avLst>
              <a:gd name="adj" fmla="val 2885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6" name="图形 36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5300" y="1219200"/>
            <a:ext cx="304800" cy="304800"/>
          </a:xfrm>
          <a:prstGeom prst="rect">
            <a:avLst/>
          </a:prstGeom>
          <a:ln/>
        </p:spPr>
      </p:pic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8534400" y="1219200"/>
            <a:ext cx="1485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课堂手机管理</a:t>
            </a:r>
            <a:endParaRPr/>
          </a:p>
        </p:txBody>
      </p:sp>
      <p:sp>
        <p:nvSpPr>
          <p:cNvPr id="368" name="矩形: 圆角 367"/>
          <p:cNvSpPr/>
          <p:nvPr/>
        </p:nvSpPr>
        <p:spPr>
          <a:xfrm>
            <a:off x="8115300" y="1752600"/>
            <a:ext cx="3429000" cy="1104900"/>
          </a:xfrm>
          <a:prstGeom prst="roundRect">
            <a:avLst>
              <a:gd name="adj" fmla="val 8621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8286750" y="1924050"/>
            <a:ext cx="30861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①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课前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手机放入手机袋；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登录好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> Trae Code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>Gitee 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等工具。</a:t>
            </a:r>
            <a:endParaRPr/>
          </a:p>
        </p:txBody>
      </p:sp>
      <p:sp>
        <p:nvSpPr>
          <p:cNvPr id="370" name="矩形: 圆角 369"/>
          <p:cNvSpPr/>
          <p:nvPr/>
        </p:nvSpPr>
        <p:spPr>
          <a:xfrm>
            <a:off x="8115300" y="3009900"/>
            <a:ext cx="3429000" cy="1104900"/>
          </a:xfrm>
          <a:prstGeom prst="roundRect">
            <a:avLst>
              <a:gd name="adj" fmla="val 8621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8286750" y="3181350"/>
            <a:ext cx="30861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②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课中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需要用手机登录账号时，</a:t>
            </a:r>
            <a:r>
              <a:rPr lang="zh-CN" sz="1500" b="1">
                <a:solidFill>
                  <a:srgbClr val="FFC107"/>
                </a:solidFill>
                <a:latin typeface="Microsoft YaHei"/>
                <a:ea typeface="Microsoft YaHei"/>
              </a:rPr>
              <a:t>先和老师说明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再使用。</a:t>
            </a:r>
            <a:endParaRPr/>
          </a:p>
        </p:txBody>
      </p:sp>
      <p:sp>
        <p:nvSpPr>
          <p:cNvPr id="372" name="矩形: 圆角 371"/>
          <p:cNvSpPr/>
          <p:nvPr/>
        </p:nvSpPr>
        <p:spPr>
          <a:xfrm>
            <a:off x="8115300" y="4267200"/>
            <a:ext cx="3429000" cy="1104900"/>
          </a:xfrm>
          <a:prstGeom prst="roundRect">
            <a:avLst>
              <a:gd name="adj" fmla="val 8621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8286750" y="4438650"/>
            <a:ext cx="30861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③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用完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及时放回手机袋，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保持课堂专注。</a:t>
            </a:r>
            <a:endParaRPr/>
          </a:p>
        </p:txBody>
      </p:sp>
      <p:sp>
        <p:nvSpPr>
          <p:cNvPr id="374" name="矩形 37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0" y="6496050"/>
            <a:ext cx="2247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07 / 17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9FC', position: 'relative', overflow: 'hidden' }}&gt;&#10;  &lt;Box style={{ position: 'absolute', top: 0, left: 0, width: 1280, height: 6, background: '#1E4FA8' }} /&gt;&#10;  &lt;Box style={{ position: 'absolute', top: 96, left: 80 }}&gt;&#10;    &lt;Text style={{ fontSize: 300, fontWeight: 'bold', color: '#1E4FA8', opacity: 0.14, lineHeight: 1 }}&gt;02&lt;/Text&gt;&#10;  &lt;/Box&gt;&#10;&#10;  &lt;Box style={{ position: 'absolute', top: 250, left: 420, width: 760 }}&gt;&#10;    &lt;Box style={{ flexDirection: 'row', alignItems: 'center', gap: 16 }}&gt;&#10;      &lt;Box style={{ width: 48, height: 6, background: '#FFC107' }} /&gt;&#10;      &lt;Text style={{ fontSize: 20, color: '#8B97A8', letterSpacing: 6 }}&gt;PART 02&lt;/Text&gt;&#10;    &lt;/Box&gt;&#10;    &lt;Text style={{ fontSize: 62, fontWeight: 'bold', color: '#0E3F8C', marginTop: 22 }}&gt;AI 大模型与编程工具&lt;/Text&gt;&#10;    &lt;Text style={{ fontSize: 24, color: '#4A5568', marginTop: 34, lineHeight: 1.7 }}&gt;先弄懂 AI 大模型是什么，&#10;再用好 AI 编程工具——这是本课程的方法论底座。&lt;/Text&gt;&#10;    &lt;Box style={{ flexDirection: 'row', gap: 14, marginTop: 44 }}&gt;&#10;      &lt;Box style={{ background: '#E8EFF8', borderRadius: 999, paddingHorizontal: 20, paddingVertical: 10 }}&gt;&#10;        &lt;Text style={{ fontSize: 20, color: '#0E3F8C' }}&gt;大模型科普&lt;/Text&gt;&#10;      &lt;/Box&gt;&#10;      &lt;Box style={{ background: '#E8EFF8', borderRadius: 999, paddingHorizontal: 20, paddingVertical: 10 }}&gt;&#10;        &lt;Text style={{ fontSize: 20, color: '#0E3F8C' }}&gt;Trae Code&lt;/Text&gt;&#10;      &lt;/Box&gt;&#10;      &lt;Box style={{ background: '#E8EFF8', borderRadius: 999, paddingHorizontal: 20, paddingVertical: 10 }}&gt;&#10;        &lt;Text style={{ fontSize: 20, color: '#0E3F8C' }}&gt;Vibe Learning&lt;/Text&gt;&#10;      &lt;/Box&gt;&#10;    &lt;/Box&gt;&#10;  &lt;/Box&gt;&#10;&#10;  &lt;Box style={{ position: 'absolute', bottom: 0, left: 0, width: 1280, height: 60, background: '#0E3F8C', flexDirection: 'row', alignItems: 'center', paddingHorizontal: 40 }}&gt;&#10;    &lt;Text style={{ fontSize: 14, color: '#E8EFF8' }}&gt;武汉工商学院 · 软件开发综合项目实训 · 第 1 讲&lt;/Text&gt;&#10;    &lt;Box style={{ flex: 1 }} /&gt;&#10;    &lt;Text style={{ fontSize: 16, color: '#FFFFFF' }}&gt;08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矩形 3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9" name="矩形 37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762000" y="914400"/>
            <a:ext cx="3533775" cy="3429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E4FA8">
                    <a:alpha val="14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1" name="矩形 380"/>
          <p:cNvSpPr/>
          <p:nvPr/>
        </p:nvSpPr>
        <p:spPr>
          <a:xfrm>
            <a:off x="4000500" y="2466975"/>
            <a:ext cx="4572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4610100" y="2381250"/>
            <a:ext cx="11715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8B97A8"/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4000500" y="2819400"/>
            <a:ext cx="7239000" cy="714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0E3F8C"/>
                </a:solidFill>
                <a:latin typeface="Microsoft YaHei"/>
                <a:ea typeface="Microsoft YaHei"/>
              </a:rPr>
              <a:t>AI </a:t>
            </a:r>
            <a:r>
              <a:rPr lang="zh-CN" sz="4650" b="1">
                <a:solidFill>
                  <a:srgbClr val="0E3F8C"/>
                </a:solidFill>
                <a:latin typeface="Microsoft YaHei"/>
                <a:ea typeface="Microsoft YaHei"/>
              </a:rPr>
              <a:t>大模型与编程工具</a:t>
            </a:r>
            <a:endParaRPr/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4000500" y="3857625"/>
            <a:ext cx="7239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先弄懂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大模型是什么，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再用好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编程工具——这是本课程的方法论底座。</a:t>
            </a:r>
            <a:endParaRPr/>
          </a:p>
        </p:txBody>
      </p:sp>
      <p:sp>
        <p:nvSpPr>
          <p:cNvPr id="385" name="矩形: 圆角 384"/>
          <p:cNvSpPr/>
          <p:nvPr/>
        </p:nvSpPr>
        <p:spPr>
          <a:xfrm>
            <a:off x="4000500" y="5210175"/>
            <a:ext cx="952500" cy="228600"/>
          </a:xfrm>
          <a:prstGeom prst="roundRect">
            <a:avLst>
              <a:gd name="adj" fmla="val 41625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4000500" y="5210175"/>
            <a:ext cx="952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0E3F8C"/>
                </a:solidFill>
                <a:latin typeface="Microsoft YaHei"/>
                <a:ea typeface="Microsoft YaHei"/>
              </a:rPr>
              <a:t>大模型科普</a:t>
            </a:r>
            <a:endParaRPr/>
          </a:p>
        </p:txBody>
      </p:sp>
      <p:sp>
        <p:nvSpPr>
          <p:cNvPr id="387" name="矩形: 圆角 386"/>
          <p:cNvSpPr/>
          <p:nvPr/>
        </p:nvSpPr>
        <p:spPr>
          <a:xfrm>
            <a:off x="5086350" y="5210175"/>
            <a:ext cx="914400" cy="228600"/>
          </a:xfrm>
          <a:prstGeom prst="roundRect">
            <a:avLst>
              <a:gd name="adj" fmla="val 41625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5086350" y="5210175"/>
            <a:ext cx="914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0E3F8C"/>
                </a:solidFill>
                <a:latin typeface="Microsoft YaHei"/>
                <a:ea typeface="Microsoft YaHei"/>
              </a:rPr>
              <a:t>Trae Code</a:t>
            </a:r>
            <a:endParaRPr/>
          </a:p>
        </p:txBody>
      </p:sp>
      <p:sp>
        <p:nvSpPr>
          <p:cNvPr id="389" name="矩形: 圆角 388"/>
          <p:cNvSpPr/>
          <p:nvPr/>
        </p:nvSpPr>
        <p:spPr>
          <a:xfrm>
            <a:off x="6134100" y="5210175"/>
            <a:ext cx="1257300" cy="228600"/>
          </a:xfrm>
          <a:prstGeom prst="roundRect">
            <a:avLst>
              <a:gd name="adj" fmla="val 41625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6134100" y="5210175"/>
            <a:ext cx="1257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0E3F8C"/>
                </a:solidFill>
                <a:latin typeface="Microsoft YaHei"/>
                <a:ea typeface="Microsoft YaHei"/>
              </a:rPr>
              <a:t>Vibe Learning</a:t>
            </a:r>
            <a:endParaRPr/>
          </a:p>
        </p:txBody>
      </p:sp>
      <p:sp>
        <p:nvSpPr>
          <p:cNvPr id="391" name="矩形 39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0" y="6496050"/>
            <a:ext cx="2781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讲</a:t>
            </a:r>
            <a:endParaRPr/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08 / 17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osition: 'relative', overflow: 'hidden' }}&gt;&#10;  &lt;Box style={{ position: 'absolute', top: 0, left: 0, width: 1280, height: 80, background: '#1E4FA8', flexDirection: 'row', alignItems: 'center', paddingHorizontal: 40 }}&gt;&#10;    &lt;Text style={{ fontSize: 16, color: '#E8EFF8', opacity: 0.85 }}&gt;02 AI 大模型与编程工具&lt;/Text&gt;&#10;    &lt;Box style={{ flex: 1 }} /&gt;&#10;    &lt;Text style={{ fontSize: 32, fontWeight: 'bold', color: '#FFFFFF' }}&gt;AI 大模型是什么&lt;/Text&gt;&#10;  &lt;/Box&gt;&#10;&#10;  &lt;Box style={{ position: 'absolute', top: 104, left: 40, width: 760, height: 420, background: '#F7F9FC', border: '1px solid #D6DCE5', borderRadius: 12, padding: 24 }}&gt;&#10;    &lt;Text style={{ fontSize: 24, fontWeight: 'bold', color: '#1A2230' }}&gt;一句话理解大语言模型&lt;/Text&gt;&#10;    &lt;Box style={{ marginTop: 16 }}&gt;&#10;      &lt;svg width={708} height={330} viewBox='0 0 708 330'&gt;&#10;        &lt;rect x='10' y='30' width='200' height='70' rx='10' fill='#1E4FA8' /&gt;&#10;        &lt;text x='110' y='72' textAnchor='middle' fontSize='20' fontWeight='bold' fill='#FFFFFF'&gt;你的提问 Prompt&lt;/text&gt;&#10;        &lt;path d='M220 65 L280 65' stroke='#3D7BD9' strokeWidth='3' /&gt;&#10;        &lt;path d='M280 65 L268 56 L268 74 Z' fill='#3D7BD9' /&gt;&#10;        &lt;rect x='290' y='10' width='150' height='110' rx='10' fill='#0E3F8C' /&gt;&#10;        &lt;text x='365' y='50' textAnchor='middle' fontSize='20' fontWeight='bold' fill='#FFFFFF'&gt;大语言模型&lt;/text&gt;&#10;        &lt;text x='365' y='80' textAnchor='middle' fontSize='15' fill='#E8EFF8'&gt;海量文本训练&lt;/text&gt;&#10;        &lt;text x='365' y='104' textAnchor='middle' fontSize='15' fill='#FFC107'&gt;预测下一个词&lt;/text&gt;&#10;        &lt;path d='M450 65 L510 65' stroke='#3D7BD9' strokeWidth='3' /&gt;&#10;        &lt;path d='M510 65 L498 56 L498 74 Z' fill='#3D7BD9' /&gt;&#10;        &lt;rect x='520' y='30' width='178' height='70' rx='10' fill='#FFFFFF' stroke='#1E4FA8' strokeWidth='2' /&gt;&#10;        &lt;text x='609' y='72' textAnchor='middle' fontSize='20' fontWeight='bold' fill='#1E4FA8'&gt;逐词生成回答&lt;/text&gt;&#10;        &lt;rect x='10' y='170' width='688' height='56' rx='10' fill='#E8EFF8' /&gt;&#10;        &lt;text x='354' y='205' textAnchor='middle' fontSize='18' fill='#0E3F8C'&gt;输入文本被切分为一个个 Token（词元）：我 / 爱 / 计算机 / 科学&lt;/text&gt;&#10;        &lt;rect x='90' y='248' width='96' height='44' rx='8' fill='#FFFFFF' stroke='#D6DCE5' /&gt;&#10;        &lt;text x='138' y='277' textAnchor='middle' fontSize='18' fill='#1A2230'&gt;我&lt;/text&gt;&#10;        &lt;rect x='226' y='248' width='96' height='44' rx='8' fill='#FFFFFF' stroke='#D6DCE5' /&gt;&#10;        &lt;text x='274' y='277' textAnchor='middle' fontSize='18' fill='#1A2230'&gt;爱&lt;/text&gt;&#10;        &lt;rect x='362' y='248' width='96' height='44' rx='8' fill='#1E4FA8' /&gt;&#10;        &lt;text x='410' y='277' textAnchor='middle' fontSize='18' fill='#FFFFFF'&gt;计算机&lt;/text&gt;&#10;        &lt;rect x='498' y='248' width='96' height='44' rx='8' fill='#FFFFFF' stroke='#D6DCE5' /&gt;&#10;        &lt;text x='546' y='277' textAnchor='middle' fontSize='18' fill='#1A2230'&gt;科学&lt;/text&gt;&#10;        &lt;text x='354' y='322' textAnchor='middle' fontSize='16' fill='#8B97A8'&gt;按概率逐个生成下一个 Token，直到完整回答&lt;/text&gt;&#10;      &lt;/svg&gt;&#10;    &lt;/Box&gt;&#10;  &lt;/Box&gt;&#10;&#10;  &lt;Box style={{ position: 'absolute', top: 104, left: 824, width: 416, height: 420, flexDirection: 'column', gap: 16 }}&gt;&#10;    &lt;Box style={{ background: '#F7F9FC', border: '1px solid #D6DCE5', borderRadius: 12, padding: 20, flex: 1 }}&gt;&#10;      &lt;Box style={{ flexDirection: 'row', alignItems: 'center', gap: 10 }}&gt;&#10;        &lt;FAIcon name='brain' style={{ fill: '#1E4FA8', width: 26, height: 26 }} /&gt;&#10;        &lt;Text style={{ fontSize: 24, fontWeight: 'bold', color: '#1A2230' }}&gt;大语言模型&lt;/Text&gt;&#10;      &lt;/Box&gt;&#10;      &lt;Text style={{ fontSize: 21, color: '#4A5568', marginTop: 10, lineHeight: 1.6 }}&gt;读遍海量文本训练出来的&quot;超级补全器&quot;，能理解问题并生成连贯回答。&lt;/Text&gt;&#10;    &lt;/Box&gt;&#10;    &lt;Box style={{ background: '#F7F9FC', border: '1px solid #D6DCE5', borderRadius: 12, padding: 20, flex: 1 }}&gt;&#10;      &lt;Box style={{ flexDirection: 'row', alignItems: 'center', gap: 10 }}&gt;&#10;        &lt;FAIcon name='comment-dots' style={{ fill: '#1E4FA8', width: 26, height: 26 }} /&gt;&#10;        &lt;Text style={{ fontSize: 24, fontWeight: 'bold', color: '#1A2230' }}&gt;Prompt 提示词&lt;/Text&gt;&#10;      &lt;/Box&gt;&#10;      &lt;Text style={{ fontSize: 21, color: '#4A5568', marginTop: 10, lineHeight: 1.6 }}&gt;你发给 AI 的指令。&lt;span style={{ fontWeight: 'bold' }}&gt;越具体、越有上下文，回答越靠谱。&lt;/span&gt;&lt;/Text&gt;&#10;    &lt;/Box&gt;&#10;    &lt;Box style={{ background: '#F7F9FC', border: '1px solid #D6DCE5', borderRadius: 12, padding: 20, flex: 1 }}&gt;&#10;      &lt;Box style={{ flexDirection: 'row', alignItems: 'center', gap: 10 }}&gt;&#10;        &lt;FAIcon name='puzzle-piece' style={{ fill: '#1E4FA8', width: 26, height: 26 }} /&gt;&#10;        &lt;Text style={{ fontSize: 24, fontWeight: 'bold', color: '#1A2230' }}&gt;Token 词元&lt;/Text&gt;&#10;      &lt;/Box&gt;&#10;      &lt;Text style={{ fontSize: 21, color: '#4A5568', marginTop: 10, lineHeight: 1.6 }}&gt;模型处理文本的最小单位，也是计费与长度的度量单位。&lt;/Text&gt;&#10;    &lt;/Box&gt;&#10;  &lt;/Box&gt;&#10;&#10;  &lt;Box style={{ position: 'absolute', top: 548, left: 40, width: 1200, background: '#E8EFF8', borderRadius: 10, padding: '14px 22px', flexDirection: 'row', alignItems: 'center', gap: 12 }}&gt;&#10;    &lt;FAIcon name='globe' style={{ fill: '#0E3F8C', width: 26, height: 26 }} /&gt;&#10;    &lt;Text style={{ fontSize: 22, color: '#0E3F8C' }}&gt;更多科普内容见课程专题网站：&lt;span style={{ fontWeight: 'bold' }}&gt;http://wtbu.chende.top/project-ai/&lt;/span&gt;，课后请完整浏览一遍。&lt;/Text&gt;&#10;  &lt;/Box&gt;&#10;&#10;  &lt;Box style={{ position: 'absolute', bottom: 0, left: 0, width: 1280, height: 60, background: '#0E3F8C', flexDirection: 'row', alignItems: 'center', paddingHorizontal: 40 }}&gt;&#10;    &lt;Text style={{ fontSize: 14, color: '#E8EFF8' }}&gt;武汉工商学院 · 软件开发综合项目实训&lt;/Text&gt;&#10;    &lt;Box style={{ flex: 1 }} /&gt;&#10;    &lt;Text style={{ fontSize: 16, color: '#FFFFFF' }}&gt;09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矩形 3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6" name="矩形 39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9934575" y="200025"/>
            <a:ext cx="2257425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大模型是什么</a:t>
            </a:r>
            <a:endParaRPr/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0" y="285750"/>
            <a:ext cx="1647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02 AI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大模型与编程工具</a:t>
            </a:r>
            <a:endParaRPr/>
          </a:p>
        </p:txBody>
      </p:sp>
      <p:sp>
        <p:nvSpPr>
          <p:cNvPr id="399" name="矩形: 圆角 398"/>
          <p:cNvSpPr/>
          <p:nvPr/>
        </p:nvSpPr>
        <p:spPr>
          <a:xfrm>
            <a:off x="381000" y="990600"/>
            <a:ext cx="7239000" cy="400050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609600" y="1219200"/>
            <a:ext cx="6781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一句话理解大语言模型</a:t>
            </a:r>
            <a:endParaRPr/>
          </a:p>
        </p:txBody>
      </p:sp>
      <p:pic>
        <p:nvPicPr>
          <p:cNvPr id="401" name="图形 40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647825"/>
            <a:ext cx="6743700" cy="3143250"/>
          </a:xfrm>
          <a:prstGeom prst="rect">
            <a:avLst/>
          </a:prstGeom>
          <a:ln/>
        </p:spPr>
      </p:pic>
      <p:sp>
        <p:nvSpPr>
          <p:cNvPr id="402" name="矩形: 圆角 401"/>
          <p:cNvSpPr/>
          <p:nvPr/>
        </p:nvSpPr>
        <p:spPr>
          <a:xfrm>
            <a:off x="7848600" y="990600"/>
            <a:ext cx="3962400" cy="1524000"/>
          </a:xfrm>
          <a:prstGeom prst="roundRect">
            <a:avLst>
              <a:gd name="adj" fmla="val 7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03" name="图形 40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9100" y="1200150"/>
            <a:ext cx="247650" cy="247650"/>
          </a:xfrm>
          <a:prstGeom prst="rect">
            <a:avLst/>
          </a:prstGeom>
          <a:ln/>
        </p:spPr>
      </p:pic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8382000" y="1181100"/>
            <a:ext cx="1143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大语言模型</a:t>
            </a:r>
            <a:endParaRPr/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8039100" y="1552575"/>
            <a:ext cx="35814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读遍海量文本训练出来的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超级补全器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，能理解问题并生成连贯回答。</a:t>
            </a:r>
            <a:endParaRPr/>
          </a:p>
        </p:txBody>
      </p:sp>
      <p:sp>
        <p:nvSpPr>
          <p:cNvPr id="406" name="矩形: 圆角 405"/>
          <p:cNvSpPr/>
          <p:nvPr/>
        </p:nvSpPr>
        <p:spPr>
          <a:xfrm>
            <a:off x="7848600" y="2667000"/>
            <a:ext cx="3962400" cy="1381953"/>
          </a:xfrm>
          <a:prstGeom prst="roundRect">
            <a:avLst>
              <a:gd name="adj" fmla="val 7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07" name="图形 4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9100" y="2876550"/>
            <a:ext cx="247650" cy="247650"/>
          </a:xfrm>
          <a:prstGeom prst="rect">
            <a:avLst/>
          </a:prstGeom>
          <a:ln/>
        </p:spPr>
      </p:pic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8382000" y="2857500"/>
            <a:ext cx="16287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Prompt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提示词</a:t>
            </a:r>
            <a:endParaRPr/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8039100" y="3228975"/>
            <a:ext cx="35814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 dirty="0">
                <a:solidFill>
                  <a:srgbClr val="4A5568"/>
                </a:solidFill>
                <a:latin typeface="Microsoft YaHei"/>
                <a:ea typeface="Microsoft YaHei"/>
              </a:rPr>
              <a:t>你发给</a:t>
            </a:r>
            <a:r>
              <a:rPr lang="en-US" sz="1575" dirty="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 dirty="0">
                <a:solidFill>
                  <a:srgbClr val="4A5568"/>
                </a:solidFill>
                <a:latin typeface="Microsoft YaHei"/>
                <a:ea typeface="Microsoft YaHei"/>
              </a:rPr>
              <a:t>的指令。</a:t>
            </a:r>
            <a:r>
              <a:rPr lang="zh-CN" sz="1575" b="1" dirty="0">
                <a:solidFill>
                  <a:srgbClr val="4A5568"/>
                </a:solidFill>
                <a:latin typeface="Microsoft YaHei"/>
                <a:ea typeface="Microsoft YaHei"/>
              </a:rPr>
              <a:t>越具体、越有上下文，回答越靠谱。</a:t>
            </a:r>
            <a:endParaRPr dirty="0"/>
          </a:p>
        </p:txBody>
      </p:sp>
      <p:sp>
        <p:nvSpPr>
          <p:cNvPr id="410" name="矩形: 圆角 409"/>
          <p:cNvSpPr/>
          <p:nvPr/>
        </p:nvSpPr>
        <p:spPr>
          <a:xfrm>
            <a:off x="7848600" y="4177747"/>
            <a:ext cx="3962400" cy="1287118"/>
          </a:xfrm>
          <a:prstGeom prst="roundRect">
            <a:avLst>
              <a:gd name="adj" fmla="val 7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1" name="图形 4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9100" y="4221649"/>
            <a:ext cx="247650" cy="247650"/>
          </a:xfrm>
          <a:prstGeom prst="rect">
            <a:avLst/>
          </a:prstGeom>
          <a:ln/>
        </p:spPr>
      </p:pic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8382000" y="4202599"/>
            <a:ext cx="12192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230"/>
                </a:solidFill>
                <a:latin typeface="Microsoft YaHei"/>
                <a:ea typeface="Microsoft YaHei"/>
              </a:rPr>
              <a:t>Token </a:t>
            </a:r>
            <a:r>
              <a:rPr lang="zh-CN" sz="1800" b="1" dirty="0">
                <a:solidFill>
                  <a:srgbClr val="1A2230"/>
                </a:solidFill>
                <a:latin typeface="Microsoft YaHei"/>
                <a:ea typeface="Microsoft YaHei"/>
              </a:rPr>
              <a:t>词元</a:t>
            </a:r>
            <a:endParaRPr dirty="0"/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8039100" y="4574074"/>
            <a:ext cx="35814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模型处理文本的最小单位，也是计费与长度的度量单位。</a:t>
            </a:r>
            <a:endParaRPr/>
          </a:p>
        </p:txBody>
      </p:sp>
      <p:sp>
        <p:nvSpPr>
          <p:cNvPr id="414" name="矩形: 圆角 413"/>
          <p:cNvSpPr/>
          <p:nvPr/>
        </p:nvSpPr>
        <p:spPr>
          <a:xfrm>
            <a:off x="381000" y="5657022"/>
            <a:ext cx="11430000" cy="523875"/>
          </a:xfrm>
          <a:prstGeom prst="roundRect">
            <a:avLst>
              <a:gd name="adj" fmla="val 18182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15" name="图形 4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550" y="5786645"/>
            <a:ext cx="247650" cy="247650"/>
          </a:xfrm>
          <a:prstGeom prst="rect">
            <a:avLst/>
          </a:prstGeom>
          <a:ln/>
        </p:spPr>
      </p:pic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952500" y="5777120"/>
            <a:ext cx="89439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0E3F8C"/>
                </a:solidFill>
                <a:latin typeface="Microsoft YaHei"/>
                <a:ea typeface="Microsoft YaHei"/>
              </a:rPr>
              <a:t>更多科普内容见课程专题网站：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http://wtbu.chende.top/project-ai/</a:t>
            </a:r>
            <a:r>
              <a:rPr lang="zh-CN" sz="1650">
                <a:solidFill>
                  <a:srgbClr val="0E3F8C"/>
                </a:solidFill>
                <a:latin typeface="Microsoft YaHei"/>
                <a:ea typeface="Microsoft YaHei"/>
              </a:rPr>
              <a:t>，课后请完整浏览一遍。</a:t>
            </a:r>
            <a:endParaRPr/>
          </a:p>
        </p:txBody>
      </p:sp>
      <p:sp>
        <p:nvSpPr>
          <p:cNvPr id="417" name="矩形 41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0" y="6496050"/>
            <a:ext cx="2247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09 / 17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9FC', position: 'relative', overflow: 'hidden' }}&gt;&#10;  &lt;Box style={{ position: 'absolute', top: 0, left: 0, width: 1280, height: 80, background: '#1E4FA8', flexDirection: 'row', alignItems: 'center', paddingHorizontal: 40 }}&gt;&#10;    &lt;Text style={{ fontSize: 16, color: '#E8EFF8', opacity: 0.85 }}&gt;02 AI 大模型与编程工具&lt;/Text&gt;&#10;    &lt;Box style={{ flex: 1 }} /&gt;&#10;    &lt;Text style={{ fontSize: 32, fontWeight: 'bold', color: '#FFFFFF' }}&gt;用 AI 辅助学习编程&lt;/Text&gt;&#10;  &lt;/Box&gt;&#10;&#10;  &lt;Box style={{ position: 'absolute', top: 80, left: 40, width: 340, height: 580, background: '#0E3F8C' }}&gt;&#10;    &lt;Box style={{ padding: 30 }}&gt;&#10;      &lt;Box style={{ width: 44, height: 6, background: '#FFC107' }} /&gt;&#10;      &lt;Text style={{ fontSize: 26, fontWeight: 'bold', color: '#FFFFFF', marginTop: 20, lineHeight: 1.5 }}&gt;AI 能帮你做什么？&lt;/Text&gt;&#10;      &lt;Text style={{ fontSize: 22, color: '#E8EFF8', marginTop: 22, lineHeight: 1.7 }}&gt;在编程学习里，AI 是随叫随到的助教：&#10;讲不清的概念、看不懂的报错、&#10;不会写的文档，都可以先问它。&lt;/Text&gt;&#10;      &lt;Text style={{ fontSize: 22, color: '#E8EFF8', marginTop: 20, lineHeight: 1.7 }}&gt;但要记住一个前提：&#10;&lt;span style={{ fontWeight: 'bold', color: '#FFC107' }}&gt;你必须能看懂、能改、能讲出&#10;AI 给你的每一段代码。&lt;/span&gt;&lt;/Text&gt;&#10;    &lt;/Box&gt;&#10;  &lt;/Box&gt;&#10;&#10;  &lt;Box style={{ position: 'absolute', top: 80, left: 420, width: 820, height: 580, flexDirection: 'column', padding: '24px 0 0 24px' }}&gt;&#10;    &lt;Box style={{ flexDirection: 'row', gap: 16 }}&gt;&#10;      &lt;Box style={{ flex: 1, background: '#FFFFFF', border: '1px solid #D6DCE5', borderRadius: 10, padding: 18 }}&gt;&#10;        &lt;Box style={{ flexDirection: 'row', alignItems: 'center', gap: 10 }}&gt;&#10;          &lt;FAIcon name='book' style={{ fill: '#1E4FA8', width: 24, height: 24 }} /&gt;&#10;          &lt;Text style={{ fontSize: 24, fontWeight: 'bold', color: '#1A2230' }}&gt;解释知识&lt;/Text&gt;&#10;        &lt;/Box&gt;&#10;        &lt;Text style={{ fontSize: 21, color: '#4A5568', marginTop: 10, lineHeight: 1.6 }}&gt;把看不懂的概念、报错信息讲成人话，直到你真正理解。&lt;/Text&gt;&#10;      &lt;/Box&gt;&#10;      &lt;Box style={{ flex: 1, background: '#FFFFFF', border: '1px solid #D6DCE5', borderRadius: 10, padding: 18 }}&gt;&#10;        &lt;Box style={{ flexDirection: 'row', alignItems: 'center', gap: 10 }}&gt;&#10;          &lt;FAIcon name='code' style={{ fill: '#1E4FA8', width: 24, height: 24 }} /&gt;&#10;          &lt;Text style={{ fontSize: 24, fontWeight: 'bold', color: '#1A2230' }}&gt;生成代码&lt;/Text&gt;&#10;        &lt;/Box&gt;&#10;        &lt;Text style={{ fontSize: 21, color: '#4A5568', marginTop: 10, lineHeight: 1.6 }}&gt;描述清楚需求，让 AI 生成代码骨架，再由你调试完善。&lt;/Text&gt;&#10;      &lt;/Box&gt;&#10;    &lt;/Box&gt;&#10;    &lt;Box style={{ flexDirection: 'row', gap: 16, marginTop: 16 }}&gt;&#10;      &lt;Box style={{ flex: 1, background: '#FFFFFF', border: '1px solid #D6DCE5', borderRadius: 10, padding: 18 }}&gt;&#10;        &lt;Box style={{ flexDirection: 'row', alignItems: 'center', gap: 10 }}&gt;&#10;          &lt;FAIcon name='bug' style={{ fill: '#1E4FA8', width: 24, height: 24 }} /&gt;&#10;          &lt;Text style={{ fontSize: 24, fontWeight: 'bold', color: '#1A2230' }}&gt;排查问题&lt;/Text&gt;&#10;        &lt;/Box&gt;&#10;        &lt;Text style={{ fontSize: 21, color: '#4A5568', marginTop: 10, lineHeight: 1.6 }}&gt;贴上报错与代码，让 AI 帮忙定位 Bug，给出修复思路。&lt;/Text&gt;&#10;      &lt;/Box&gt;&#10;      &lt;Box style={{ flex: 1, background: '#FFFFFF', border: '1px solid #D6DCE5', borderRadius: 10, padding: 18 }}&gt;&#10;        &lt;Box style={{ flexDirection: 'row', alignItems: 'center', gap: 10 }}&gt;&#10;          &lt;FAIcon name='file-alt' style={{ fill: '#1E4FA8', width: 24, height: 24 }} /&gt;&#10;          &lt;Text style={{ fontSize: 24, fontWeight: 'bold', color: '#1A2230' }}&gt;文档与练习&lt;/Text&gt;&#10;        &lt;/Box&gt;&#10;        &lt;Text style={{ fontSize: 21, color: '#4A5568', marginTop: 10, lineHeight: 1.6 }}&gt;辅助写注释、写文档、生成练习题，帮你巩固知识点。&lt;/Text&gt;&#10;      &lt;/Box&gt;&#10;    &lt;/Box&gt;&#10;&#10;    &lt;Box style={{ marginTop: 20, background: '#FFFFFF', border: '2px solid #D9534F', borderRadius: 10, padding: '16px 20px' }}&gt;&#10;      &lt;Box style={{ flexDirection: 'row', alignItems: 'center', gap: 10 }}&gt;&#10;        &lt;FAIcon name='ban' style={{ fill: '#D9534F', width: 26, height: 26 }} /&gt;&#10;        &lt;Text style={{ fontSize: 24, fontWeight: 'bold', color: '#D9534F' }}&gt;红线提醒：AI 是学习助手，不是代写工具&lt;/Text&gt;&#10;      &lt;/Box&gt;&#10;      &lt;Text style={{ fontSize: 21, color: '#4A5568', marginTop: 10, lineHeight: 1.6 }}&gt;答辩时老师会&lt;span style={{ fontWeight: 'bold' }}&gt;当面验收系统并提问&lt;/span&gt;——照搬不理解的代码，一问就露馅；学会&lt;span style={{ fontWeight: 'bold', color: '#1A2230' }}&gt;提出好问题、验证 AI 的回答&lt;/span&gt;，才是这门课要练的真本事。&lt;/Text&gt;&#10;    &lt;/Box&gt;&#10;&#10;    &lt;Box style={{ marginTop: 18, background: '#E8EFF8', borderRadius: 10, padding: '12px 20px', flexDirection: 'row', alignItems: 'center', gap: 12 }}&gt;&#10;      &lt;FAIcon name='check-circle' style={{ fill: '#0E3F8C', width: 24, height: 24 }} /&gt;&#10;      &lt;Text style={{ fontSize: 21, color: '#0E3F8C' }}&gt;正确姿势：先自己想 → 再问 AI → 对比验证 → 总结沉淀&lt;/Text&gt;&#10;    &lt;/Box&gt;&#10;  &lt;/Box&gt;&#10;&#10;  &lt;Box style={{ position: 'absolute', bottom: 0, left: 0, width: 1280, height: 60, background: '#0E3F8C', flexDirection: 'row', alignItems: 'center', paddingHorizontal: 40 }}&gt;&#10;    &lt;Text style={{ fontSize: 14, color: '#E8EFF8' }}&gt;武汉工商学院 · 软件开发综合项目实训&lt;/Text&gt;&#10;    &lt;Box style={{ flex: 1 }} /&gt;&#10;    &lt;Text style={{ fontSize: 16, color: '#FFFFFF' }}&gt;10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矩形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9544050" y="200025"/>
            <a:ext cx="264795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用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辅助学习编程</a:t>
            </a:r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0" y="285750"/>
            <a:ext cx="1647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02 AI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大模型与编程工具</a:t>
            </a:r>
            <a:endParaRPr/>
          </a:p>
        </p:txBody>
      </p:sp>
      <p:sp>
        <p:nvSpPr>
          <p:cNvPr id="28" name="矩形 27"/>
          <p:cNvSpPr/>
          <p:nvPr/>
        </p:nvSpPr>
        <p:spPr>
          <a:xfrm>
            <a:off x="381000" y="762000"/>
            <a:ext cx="323850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666750" y="1047750"/>
            <a:ext cx="4191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666750" y="1295400"/>
            <a:ext cx="2667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能帮你做什么？</a:t>
            </a:r>
            <a:endParaRPr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666750" y="1952625"/>
            <a:ext cx="2667000" cy="1714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在编程学习里，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AI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是随叫随到的助教：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讲不清的概念、看不懂的报错、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不会写的文档，都可以先问它。</a:t>
            </a:r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666750" y="3857625"/>
            <a:ext cx="2667000" cy="1285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但要记住一个前提：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你必须能看懂、能改、能讲出</a:t>
            </a: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> AI 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给你的每一段代码。</a:t>
            </a:r>
            <a:endParaRPr/>
          </a:p>
        </p:txBody>
      </p:sp>
      <p:sp>
        <p:nvSpPr>
          <p:cNvPr id="33" name="矩形: 圆角 32"/>
          <p:cNvSpPr/>
          <p:nvPr/>
        </p:nvSpPr>
        <p:spPr>
          <a:xfrm>
            <a:off x="4229100" y="990600"/>
            <a:ext cx="37147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图形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0550" y="1190625"/>
            <a:ext cx="228600" cy="228600"/>
          </a:xfrm>
          <a:prstGeom prst="rect">
            <a:avLst/>
          </a:prstGeom>
          <a:ln/>
        </p:spPr>
      </p:pic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4724400" y="1162050"/>
            <a:ext cx="914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解释知识</a:t>
            </a:r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4400550" y="1533525"/>
            <a:ext cx="33718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把看不懂的概念、报错信息讲成人话，直到你真正理解。</a:t>
            </a:r>
            <a:endParaRPr/>
          </a:p>
        </p:txBody>
      </p:sp>
      <p:sp>
        <p:nvSpPr>
          <p:cNvPr id="37" name="矩形: 圆角 36"/>
          <p:cNvSpPr/>
          <p:nvPr/>
        </p:nvSpPr>
        <p:spPr>
          <a:xfrm>
            <a:off x="8096250" y="990600"/>
            <a:ext cx="37147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图形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7700" y="1190625"/>
            <a:ext cx="228600" cy="228600"/>
          </a:xfrm>
          <a:prstGeom prst="rect">
            <a:avLst/>
          </a:prstGeom>
          <a:ln/>
        </p:spPr>
      </p:pic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8591550" y="1162050"/>
            <a:ext cx="914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生成代码</a:t>
            </a:r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8267700" y="1533525"/>
            <a:ext cx="33718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描述清楚需求，让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生成代码骨架，再由你调试完善。</a:t>
            </a:r>
            <a:endParaRPr/>
          </a:p>
        </p:txBody>
      </p:sp>
      <p:sp>
        <p:nvSpPr>
          <p:cNvPr id="41" name="矩形: 圆角 40"/>
          <p:cNvSpPr/>
          <p:nvPr/>
        </p:nvSpPr>
        <p:spPr>
          <a:xfrm>
            <a:off x="4229100" y="2628900"/>
            <a:ext cx="37147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2" name="图形 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0550" y="2828925"/>
            <a:ext cx="228600" cy="228600"/>
          </a:xfrm>
          <a:prstGeom prst="rect">
            <a:avLst/>
          </a:prstGeom>
          <a:ln/>
        </p:spPr>
      </p:pic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4724400" y="2800350"/>
            <a:ext cx="914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排查问题</a:t>
            </a:r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4400550" y="3171825"/>
            <a:ext cx="33718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贴上报错与代码，让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帮忙定位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Bug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，给出修复思路。</a:t>
            </a:r>
            <a:endParaRPr/>
          </a:p>
        </p:txBody>
      </p:sp>
      <p:sp>
        <p:nvSpPr>
          <p:cNvPr id="45" name="矩形: 圆角 44"/>
          <p:cNvSpPr/>
          <p:nvPr/>
        </p:nvSpPr>
        <p:spPr>
          <a:xfrm>
            <a:off x="8096250" y="2628900"/>
            <a:ext cx="37147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" name="图形 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7700" y="2828925"/>
            <a:ext cx="228600" cy="228600"/>
          </a:xfrm>
          <a:prstGeom prst="rect">
            <a:avLst/>
          </a:prstGeom>
          <a:ln/>
        </p:spPr>
      </p:pic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8591550" y="2800350"/>
            <a:ext cx="1143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文档与练习</a:t>
            </a:r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8267700" y="3171825"/>
            <a:ext cx="33718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辅助写注释、写文档、生成练习题，帮你巩固知识点。</a:t>
            </a:r>
            <a:endParaRPr/>
          </a:p>
        </p:txBody>
      </p:sp>
      <p:sp>
        <p:nvSpPr>
          <p:cNvPr id="49" name="矩形: 圆角 48"/>
          <p:cNvSpPr/>
          <p:nvPr/>
        </p:nvSpPr>
        <p:spPr>
          <a:xfrm>
            <a:off x="4229100" y="4305300"/>
            <a:ext cx="7581900" cy="14478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0" name="图形 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9600" y="4476750"/>
            <a:ext cx="247650" cy="247650"/>
          </a:xfrm>
          <a:prstGeom prst="rect">
            <a:avLst/>
          </a:prstGeom>
          <a:ln/>
        </p:spPr>
      </p:pic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4762500" y="4457700"/>
            <a:ext cx="42100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D9534F"/>
                </a:solidFill>
                <a:latin typeface="Microsoft YaHei"/>
                <a:ea typeface="Microsoft YaHei"/>
              </a:rPr>
              <a:t>红线提醒：</a:t>
            </a:r>
            <a:r>
              <a:rPr lang="en-US" sz="1800" b="1">
                <a:solidFill>
                  <a:srgbClr val="D9534F"/>
                </a:solidFill>
                <a:latin typeface="Microsoft YaHei"/>
                <a:ea typeface="Microsoft YaHei"/>
              </a:rPr>
              <a:t>AI </a:t>
            </a:r>
            <a:r>
              <a:rPr lang="zh-CN" sz="1800" b="1">
                <a:solidFill>
                  <a:srgbClr val="D9534F"/>
                </a:solidFill>
                <a:latin typeface="Microsoft YaHei"/>
                <a:ea typeface="Microsoft YaHei"/>
              </a:rPr>
              <a:t>是学习助手，不是代写工具</a:t>
            </a:r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4419600" y="4829175"/>
            <a:ext cx="72009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答辩时老师会</a:t>
            </a:r>
            <a:r>
              <a:rPr lang="zh-CN" sz="1575" b="1">
                <a:solidFill>
                  <a:srgbClr val="4A5568"/>
                </a:solidFill>
                <a:latin typeface="Microsoft YaHei"/>
                <a:ea typeface="Microsoft YaHei"/>
              </a:rPr>
              <a:t>当面验收系统并提问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——照搬不理解的代码，一问就露馅；学会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提出好问题、验证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的回答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，才是这门课要练的真本事。</a:t>
            </a:r>
            <a:endParaRPr/>
          </a:p>
        </p:txBody>
      </p:sp>
      <p:sp>
        <p:nvSpPr>
          <p:cNvPr id="53" name="矩形: 圆角 52"/>
          <p:cNvSpPr/>
          <p:nvPr/>
        </p:nvSpPr>
        <p:spPr>
          <a:xfrm>
            <a:off x="4229100" y="5924550"/>
            <a:ext cx="7581900" cy="47625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4" name="图形 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9600" y="6048375"/>
            <a:ext cx="228600" cy="228600"/>
          </a:xfrm>
          <a:prstGeom prst="rect">
            <a:avLst/>
          </a:prstGeom>
          <a:ln/>
        </p:spPr>
      </p:pic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4762500" y="6038850"/>
            <a:ext cx="50196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正确姿势：先自己想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再问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 AI → 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对比验证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总结沉淀</a:t>
            </a:r>
            <a:endParaRPr/>
          </a:p>
        </p:txBody>
      </p:sp>
      <p:sp>
        <p:nvSpPr>
          <p:cNvPr id="56" name="矩形 5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0" y="6496050"/>
            <a:ext cx="2247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10 / 17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osition: 'relative', overflow: 'hidden' }}&gt;&#10;  &lt;Box style={{ position: 'absolute', top: 0, left: 0, width: 1280, height: 80, background: '#1E4FA8', flexDirection: 'row', alignItems: 'center', paddingHorizontal: 40 }}&gt;&#10;    &lt;Text style={{ fontSize: 16, color: '#E8EFF8', opacity: 0.85 }}&gt;02 AI 大模型与编程工具&lt;/Text&gt;&#10;    &lt;Box style={{ flex: 1 }} /&gt;&#10;    &lt;Text style={{ fontSize: 32, fontWeight: 'bold', color: '#FFFFFF' }}&gt;AI 编程工具：Trae Code&lt;/Text&gt;&#10;  &lt;/Box&gt;&#10;&#10;  &lt;Box style={{ position: 'absolute', top: 104, left: 40, width: 680, height: 470, background: '#F7F9FC', border: '1px solid #D6DCE5', borderRadius: 12, padding: 20 }}&gt;&#10;    &lt;Text style={{ fontSize: 20, color: '#8B97A8' }}&gt;工作界面示意&lt;/Text&gt;&#10;    &lt;Box style={{ marginTop: 12 }}&gt;&#10;      &lt;svg width={640} height={396} viewBox='0 0 640 396'&gt;&#10;        &lt;rect x='0' y='0' width='640' height='396' rx='10' fill='#FFFFFF' stroke='#D6DCE5' strokeWidth='2' /&gt;&#10;        &lt;rect x='0' y='0' width='640' height='34' rx='10' fill='#1E4FA8' /&gt;&#10;        &lt;circle cx='22' cy='17' r='6' fill='#D9534F' /&gt;&#10;        &lt;circle cx='44' cy='17' r='6' fill='#FFC107' /&gt;&#10;        &lt;circle cx='66' cy='17' r='6' fill='#3D7BD9' /&gt;&#10;        &lt;text x='320' y='23' textAnchor='middle' fontSize='14' fill='#E8EFF8'&gt;Trae Code — 项目工作区&lt;/text&gt;&#10;        &lt;rect x='10' y='44' width='380' height='342' rx='6' fill='#F7F9FC' stroke='#D6DCE5' /&gt;&#10;        &lt;text x='24' y='68' fontSize='14' fontWeight='bold' fill='#1E4FA8'&gt;编辑器 · project/src&lt;/text&gt;&#10;        &lt;rect x='24' y='80' width='120' height='14' rx='4' fill='#E8EFF8' /&gt;&#10;        &lt;rect x='24' y='104' width='250' height='14' rx='4' fill='#3D7BD9' opacity='0.55' /&gt;&#10;        &lt;rect x='44' y='128' width='200' height='14' rx='4' fill='#E8EFF8' /&gt;&#10;        &lt;rect x='44' y='152' width='280' height='14' rx='4' fill='#FFC107' opacity='0.6' /&gt;&#10;        &lt;rect x='24' y='176' width='160' height='14' rx='4' fill='#E8EFF8' /&gt;&#10;        &lt;rect x='44' y='200' width='230' height='14' rx='4' fill='#3D7BD9' opacity='0.55' /&gt;&#10;        &lt;rect x='24' y='224' width='190' height='14' rx='4' fill='#E8EFF8' /&gt;&#10;        &lt;rect x='24' y='248' width='260' height='14' rx='4' fill='#1E4FA8' opacity='0.75' /&gt;&#10;        &lt;rect x='24' y='272' width='140' height='14' rx='4' fill='#E8EFF8' /&gt;&#10;        &lt;rect x='44' y='296' width='210' height='14' rx='4' fill='#E8EFF8' /&gt;&#10;        &lt;rect x='44' y='320' width='170' height='14' rx='4' fill='#3D7BD9' opacity='0.55' /&gt;&#10;        &lt;rect x='24' y='344' width='120' height='14' rx='4' fill='#E8EFF8' /&gt;&#10;        &lt;rect x='400' y='44' width='230' height='342' rx='6' fill='#0E3F8C' /&gt;&#10;        &lt;text x='416' y='68' fontSize='14' fontWeight='bold' fill='#FFC107'&gt;AI 对话区&lt;/text&gt;&#10;        &lt;rect x='416' y='80' width='198' height='52' rx='6' fill='#1E4FA8' /&gt;&#10;        &lt;text x='426' y='102' fontSize='13' fill='#E8EFF8'&gt;你：给图书列表加一个&lt;/text&gt;&#10;        &lt;text x='426' y='121' fontSize='13' fill='#E8EFF8'&gt;按书名搜索的功能&lt;/text&gt;&#10;        &lt;rect x='416' y='142' width='198' height='70' rx='6' fill='#FFFFFF' /&gt;&#10;        &lt;text x='426' y='164' fontSize='13' fill='#1A2230'&gt;AI：已修改 BookDao、&lt;/text&gt;&#10;        &lt;text x='426' y='182' fontSize='13' fill='#1A2230'&gt;BookService 并新增&lt;/text&gt;&#10;        &lt;text x='426' y='200' fontSize='13' fill='#1A2230'&gt;搜索接口，可点击应用&lt;/text&gt;&#10;        &lt;rect x='416' y='352' width='198' height='24' rx='6' fill='#1E4FA8' /&gt;&#10;        &lt;text x='426' y='369' fontSize='12' fill='#E8EFF8'&gt;输入你的需求…&lt;/text&gt;&#10;      &lt;/svg&gt;&#10;    &lt;/Box&gt;&#10;  &lt;/Box&gt;&#10;&#10;  &lt;Box style={{ position: 'absolute', top: 104, left: 744, width: 496, height: 470, flexDirection: 'column', gap: 14 }}&gt;&#10;    &lt;Box style={{ background: '#F7F9FC', border: '1px solid #D6DCE5', borderRadius: 10, padding: '14px 18px', flexDirection: 'row', alignItems: 'center', gap: 12 }}&gt;&#10;      &lt;FAIcon name='comments' style={{ fill: '#1E4FA8', width: 26, height: 26 }} /&gt;&#10;      &lt;Text style={{ fontSize: 22, color: '#1A2230', flex: 1 }}&gt;&lt;span style={{ fontWeight: 'bold' }}&gt;AI 对话生成与修改代码&lt;/span&gt;：用自然语言描述需求&lt;/Text&gt;&#10;    &lt;/Box&gt;&#10;    &lt;Box style={{ background: '#F7F9FC', border: '1px solid #D6DCE5', borderRadius: 10, padding: '14px 18px', flexDirection: 'row', alignItems: 'center', gap: 12 }}&gt;&#10;      &lt;FAIcon name='project-diagram' style={{ fill: '#1E4FA8', width: 26, height: 26 }} /&gt;&#10;      &lt;Text style={{ fontSize: 22, color: '#1A2230', flex: 1 }}&gt;&lt;span style={{ fontWeight: 'bold' }}&gt;理解项目上下文&lt;/span&gt;：跨文件分析、精准改动&lt;/Text&gt;&#10;    &lt;/Box&gt;&#10;    &lt;Box style={{ background: '#F7F9FC', border: '1px solid #D6DCE5', borderRadius: 10, padding: '14px 18px', flexDirection: 'row', alignItems: 'center', gap: 12 }}&gt;&#10;      &lt;FAIcon name='magic' style={{ fill: '#1E4FA8', width: 26, height: 26 }} /&gt;&#10;      &lt;Text style={{ fontSize: 22, color: '#1A2230', flex: 1 }}&gt;&lt;span style={{ fontWeight: 'bold' }}&gt;智能补全&lt;/span&gt;：边写边提示，减少重复劳动&lt;/Text&gt;&#10;    &lt;/Box&gt;&#10;    &lt;Box style={{ background: '#F7F9FC', border: '1px solid #D6DCE5', borderRadius: 10, padding: '14px 18px', flexDirection: 'row', alignItems: 'center', gap: 12 }}&gt;&#10;      &lt;FAIcon name='terminal' style={{ fill: '#1E4FA8', width: 26, height: 26 }} /&gt;&#10;      &lt;Text style={{ fontSize: 22, color: '#1A2230', flex: 1 }}&gt;&lt;span style={{ fontWeight: 'bold' }}&gt;内置终端&lt;/span&gt;：编译、运行、看结果一气呵成&lt;/Text&gt;&#10;    &lt;/Box&gt;&#10;    &lt;Box style={{ background: '#0E3F8C', borderRadius: 10, padding: '16px 18px', marginTop: 6 }}&gt;&#10;      &lt;Box style={{ flexDirection: 'row', alignItems: 'center', gap: 10 }}&gt;&#10;        &lt;FAIcon name='download' style={{ fill: '#FFC107', width: 24, height: 24 }} /&gt;&#10;        &lt;Text style={{ fontSize: 22, fontWeight: 'bold', color: '#FFFFFF' }}&gt;课前准备（重要）&lt;/Text&gt;&#10;      &lt;/Box&gt;&#10;      &lt;Text style={{ fontSize: 21, color: '#E8EFF8', marginTop: 8, lineHeight: 1.6 }}&gt;今天课上完成安装与登录演示；&lt;span style={{ fontWeight: 'bold', color: '#FFC107' }}&gt;下次上课前必须登录好 Trae Code 与 Gitee&lt;/span&gt;，进教室即开工。&lt;/Text&gt;&#10;    &lt;/Box&gt;&#10;  &lt;/Box&gt;&#10;&#10;  &lt;Box style={{ position: 'absolute', bottom: 0, left: 0, width: 1280, height: 60, background: '#0E3F8C', flexDirection: 'row', alignItems: 'center', paddingHorizontal: 40 }}&gt;&#10;    &lt;Text style={{ fontSize: 14, color: '#E8EFF8' }}&gt;武汉工商学院 · 软件开发综合项目实训&lt;/Text&gt;&#10;    &lt;Box style={{ flex: 1 }} /&gt;&#10;    &lt;Text style={{ fontSize: 16, color: '#FFFFFF' }}&gt;11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矩形 6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8715375" y="200025"/>
            <a:ext cx="3476625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编程工具：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Trae Code</a:t>
            </a:r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0" y="285750"/>
            <a:ext cx="1647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02 AI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大模型与编程工具</a:t>
            </a:r>
            <a:endParaRPr/>
          </a:p>
        </p:txBody>
      </p:sp>
      <p:sp>
        <p:nvSpPr>
          <p:cNvPr id="64" name="矩形: 圆角 63"/>
          <p:cNvSpPr/>
          <p:nvPr/>
        </p:nvSpPr>
        <p:spPr>
          <a:xfrm>
            <a:off x="381000" y="990600"/>
            <a:ext cx="6477000" cy="447675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571500" y="1181100"/>
            <a:ext cx="6096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工作界面示意</a:t>
            </a:r>
            <a:endParaRPr/>
          </a:p>
        </p:txBody>
      </p:sp>
      <p:pic>
        <p:nvPicPr>
          <p:cNvPr id="66" name="图形 6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524000"/>
            <a:ext cx="6096000" cy="3771900"/>
          </a:xfrm>
          <a:prstGeom prst="rect">
            <a:avLst/>
          </a:prstGeom>
          <a:ln/>
        </p:spPr>
      </p:pic>
      <p:sp>
        <p:nvSpPr>
          <p:cNvPr id="67" name="矩形: 圆角 66"/>
          <p:cNvSpPr/>
          <p:nvPr/>
        </p:nvSpPr>
        <p:spPr>
          <a:xfrm>
            <a:off x="7086600" y="990600"/>
            <a:ext cx="4724400" cy="771525"/>
          </a:xfrm>
          <a:prstGeom prst="roundRect">
            <a:avLst>
              <a:gd name="adj" fmla="val 1234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8" name="图形 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8050" y="1257300"/>
            <a:ext cx="247650" cy="247650"/>
          </a:xfrm>
          <a:prstGeom prst="rect">
            <a:avLst/>
          </a:prstGeom>
          <a:ln/>
        </p:spPr>
      </p:pic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7620000" y="1123950"/>
            <a:ext cx="40195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对话生成与修改代码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：用自然语言描述需求</a:t>
            </a:r>
            <a:endParaRPr/>
          </a:p>
        </p:txBody>
      </p:sp>
      <p:sp>
        <p:nvSpPr>
          <p:cNvPr id="70" name="矩形: 圆角 69"/>
          <p:cNvSpPr/>
          <p:nvPr/>
        </p:nvSpPr>
        <p:spPr>
          <a:xfrm>
            <a:off x="7086600" y="1895475"/>
            <a:ext cx="4724400" cy="523875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1" name="图形 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8050" y="2038350"/>
            <a:ext cx="247650" cy="247650"/>
          </a:xfrm>
          <a:prstGeom prst="rect">
            <a:avLst/>
          </a:prstGeom>
          <a:ln/>
        </p:spPr>
      </p:pic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7620000" y="2028825"/>
            <a:ext cx="401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理解项目上下文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：跨文件分析、精准改动</a:t>
            </a:r>
            <a:endParaRPr/>
          </a:p>
        </p:txBody>
      </p:sp>
      <p:sp>
        <p:nvSpPr>
          <p:cNvPr id="73" name="矩形: 圆角 72"/>
          <p:cNvSpPr/>
          <p:nvPr/>
        </p:nvSpPr>
        <p:spPr>
          <a:xfrm>
            <a:off x="7086600" y="2552700"/>
            <a:ext cx="4724400" cy="523875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4" name="图形 7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8050" y="2695575"/>
            <a:ext cx="247650" cy="247650"/>
          </a:xfrm>
          <a:prstGeom prst="rect">
            <a:avLst/>
          </a:prstGeom>
          <a:ln/>
        </p:spPr>
      </p:pic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7620000" y="2686050"/>
            <a:ext cx="401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智能补全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：边写边提示，减少重复劳动</a:t>
            </a:r>
            <a:endParaRPr/>
          </a:p>
        </p:txBody>
      </p:sp>
      <p:sp>
        <p:nvSpPr>
          <p:cNvPr id="76" name="矩形: 圆角 75"/>
          <p:cNvSpPr/>
          <p:nvPr/>
        </p:nvSpPr>
        <p:spPr>
          <a:xfrm>
            <a:off x="7086600" y="3209925"/>
            <a:ext cx="4724400" cy="523875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7" name="图形 7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8050" y="3352800"/>
            <a:ext cx="247650" cy="247650"/>
          </a:xfrm>
          <a:prstGeom prst="rect">
            <a:avLst/>
          </a:prstGeom>
          <a:ln/>
        </p:spPr>
      </p:pic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7620000" y="3343275"/>
            <a:ext cx="401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内置终端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：编译、运行、看结果一气呵成</a:t>
            </a:r>
            <a:endParaRPr/>
          </a:p>
        </p:txBody>
      </p:sp>
      <p:sp>
        <p:nvSpPr>
          <p:cNvPr id="79" name="矩形: 圆角 78"/>
          <p:cNvSpPr/>
          <p:nvPr/>
        </p:nvSpPr>
        <p:spPr>
          <a:xfrm>
            <a:off x="7086600" y="3924300"/>
            <a:ext cx="4724400" cy="1409700"/>
          </a:xfrm>
          <a:prstGeom prst="roundRect">
            <a:avLst>
              <a:gd name="adj" fmla="val 6757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0" name="图形 7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8050" y="4095750"/>
            <a:ext cx="228600" cy="228600"/>
          </a:xfrm>
          <a:prstGeom prst="rect">
            <a:avLst/>
          </a:prstGeom>
          <a:ln/>
        </p:spPr>
      </p:pic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7581900" y="4076700"/>
            <a:ext cx="1676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课前准备（重要）</a:t>
            </a:r>
            <a:endParaRPr/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7258050" y="4410075"/>
            <a:ext cx="43815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今天课上完成安装与登录演示；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下次上课前必须登录好</a:t>
            </a: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 Trae Code 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与</a:t>
            </a: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 Gitee</a:t>
            </a: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，进教室即开工。</a:t>
            </a:r>
            <a:endParaRPr/>
          </a:p>
        </p:txBody>
      </p:sp>
      <p:sp>
        <p:nvSpPr>
          <p:cNvPr id="83" name="矩形 8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0" y="6496050"/>
            <a:ext cx="2247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11 / 17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E3F8C', position: 'relative', overflow: 'hidden' }}&gt;&#10;  &lt;Box style={{ position: 'absolute', top: 16, left: 16, width: 240, height: 240, borderRadius: 240, border: '2px solid #3D7BD9', opacity: 0.28 }} /&gt;&#10;  &lt;Box style={{ position: 'absolute', bottom: 16, right: 16, width: 260, height: 260, borderRadius: 260, border: '2px solid #3D7BD9', opacity: 0.22 }} /&gt;&#10;&#10;  &lt;Box style={{ position: 'absolute', top: 0, left: 0, width: 1280, height: 80, flexDirection: 'row', alignItems: 'center', paddingHorizontal: 40 }}&gt;&#10;    &lt;Text style={{ fontSize: 16, color: '#E8EFF8', opacity: 0.85 }}&gt;02 AI 大模型与编程工具&lt;/Text&gt;&#10;    &lt;Box style={{ flex: 1 }} /&gt;&#10;    &lt;Text style={{ fontSize: 32, fontWeight: 'bold', color: '#FFFFFF' }}&gt;Vibe Learning：边做边学&lt;/Text&gt;&#10;  &lt;/Box&gt;&#10;&#10;  &lt;Box style={{ position: 'absolute', top: 168, left: 100, width: 1080, alignItems: 'center' }}&gt;&#10;    &lt;Text style={{ fontSize: 24, color: '#FFC107', letterSpacing: 8 }}&gt;核心理念&lt;/Text&gt;&#10;    &lt;Text style={{ fontSize: 58, fontWeight: 'bold', color: '#FFFFFF', marginTop: 26, lineHeight: 1.4, textAlign: 'center' }}&gt;以做出项目为目标，&#10;借助 AI 边做边学。&lt;/Text&gt;&#10;    &lt;Box style={{ width: 88, height: 6, background: '#FFC107', marginTop: 34 }} /&gt;&#10;  &lt;/Box&gt;&#10;&#10;  &lt;Box style={{ position: 'absolute', top: 470, left: 100, width: 1080, flexDirection: 'row', gap: 20 }}&gt;&#10;    &lt;Box style={{ flex: 1, background: '#1E4FA8', border: '1px solid #3D7BD9', borderRadius: 12, padding: 22 }}&gt;&#10;      &lt;Text style={{ fontSize: 23, fontWeight: 'bold', color: '#FFFFFF' }}&gt;遇到不懂，随时问 AI&lt;/Text&gt;&#10;      &lt;Text style={{ fontSize: 20, color: '#E8EFF8', marginTop: 10, lineHeight: 1.6 }}&gt;概念、语法、报错都可以当场问，不积压问题。&lt;/Text&gt;&#10;    &lt;/Box&gt;&#10;    &lt;Box style={{ flex: 1, background: '#1E4FA8', border: '1px solid #3D7BD9', borderRadius: 12, padding: 22 }}&gt;&#10;      &lt;Text style={{ fontSize: 23, fontWeight: 'bold', color: '#FFFFFF' }}&gt;课后补齐知识短板&lt;/Text&gt;&#10;      &lt;Text style={{ fontSize: 20, color: '#E8EFF8', marginTop: 10, lineHeight: 1.6 }}&gt;课上先跑通，课后再系统补基础，学得更快更牢。&lt;/Text&gt;&#10;    &lt;/Box&gt;&#10;    &lt;Box style={{ flex: 1, background: '#1E4FA8', border: '1px solid #3D7BD9', borderRadius: 12, padding: 22 }}&gt;&#10;      &lt;Text style={{ fontSize: 23, fontWeight: 'bold', color: '#FFFFFF' }}&gt;做的过程就是学习&lt;/Text&gt;&#10;      &lt;Text style={{ fontSize: 20, color: '#E8EFF8', marginTop: 10, lineHeight: 1.6 }}&gt;项目推进到哪里，知识就长到哪里，期末答辩见真章。&lt;/Text&gt;&#10;    &lt;/Box&gt;&#10;  &lt;/Box&gt;&#10;&#10;  &lt;Box style={{ position: 'absolute', bottom: 0, left: 0, width: 1280, height: 60, background: '#1E4FA8', flexDirection: 'row', alignItems: 'center', paddingHorizontal: 40 }}&gt;&#10;    &lt;Text style={{ fontSize: 14, color: '#E8EFF8' }}&gt;武汉工商学院 · 软件开发综合项目实训&lt;/Text&gt;&#10;    &lt;Box style={{ flex: 1 }} /&gt;&#10;    &lt;Text style={{ fontSize: 16, color: '#FFFFFF' }}&gt;12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" name="矩形: 圆角 87"/>
          <p:cNvSpPr/>
          <p:nvPr/>
        </p:nvSpPr>
        <p:spPr>
          <a:xfrm>
            <a:off x="152400" y="152400"/>
            <a:ext cx="2286000" cy="2286000"/>
          </a:xfrm>
          <a:prstGeom prst="roundRect">
            <a:avLst>
              <a:gd name="adj" fmla="val 100000"/>
            </a:avLst>
          </a:prstGeom>
          <a:ln w="25400">
            <a:solidFill>
              <a:srgbClr val="3D7BD9">
                <a:alpha val="2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矩形: 圆角 88"/>
          <p:cNvSpPr/>
          <p:nvPr/>
        </p:nvSpPr>
        <p:spPr>
          <a:xfrm>
            <a:off x="9563100" y="4229100"/>
            <a:ext cx="2476500" cy="2476500"/>
          </a:xfrm>
          <a:prstGeom prst="roundRect">
            <a:avLst>
              <a:gd name="adj" fmla="val 100000"/>
            </a:avLst>
          </a:prstGeom>
          <a:ln w="25400">
            <a:solidFill>
              <a:srgbClr val="3D7BD9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8543925" y="200025"/>
            <a:ext cx="3648075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Vibe Learning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：边做边学</a:t>
            </a:r>
            <a:endParaRPr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0" y="285750"/>
            <a:ext cx="1647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02 AI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大模型与编程工具</a:t>
            </a:r>
            <a:endParaRPr/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5486400" y="1600200"/>
            <a:ext cx="12192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spc="600">
                <a:solidFill>
                  <a:srgbClr val="FFC107"/>
                </a:solidFill>
                <a:latin typeface="Microsoft YaHei"/>
                <a:ea typeface="Microsoft YaHei"/>
              </a:rPr>
              <a:t>核心理念</a:t>
            </a:r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1133475" y="2124075"/>
            <a:ext cx="9934575" cy="933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以做出项目为目标，</a:t>
            </a:r>
            <a:r>
              <a:rPr lang="en-US" sz="43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借助</a:t>
            </a:r>
            <a:r>
              <a:rPr lang="en-US" sz="43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边做边学。</a:t>
            </a:r>
            <a:endParaRPr/>
          </a:p>
        </p:txBody>
      </p:sp>
      <p:sp>
        <p:nvSpPr>
          <p:cNvPr id="94" name="矩形 93"/>
          <p:cNvSpPr/>
          <p:nvPr/>
        </p:nvSpPr>
        <p:spPr>
          <a:xfrm>
            <a:off x="5676900" y="3381375"/>
            <a:ext cx="8382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5" name="矩形: 圆角 94"/>
          <p:cNvSpPr/>
          <p:nvPr/>
        </p:nvSpPr>
        <p:spPr>
          <a:xfrm>
            <a:off x="952500" y="4476750"/>
            <a:ext cx="3305175" cy="1514475"/>
          </a:xfrm>
          <a:prstGeom prst="roundRect">
            <a:avLst>
              <a:gd name="adj" fmla="val 7547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1162050" y="4686300"/>
            <a:ext cx="28860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遇到不懂，随时问</a:t>
            </a:r>
            <a:r>
              <a:rPr lang="en-US" sz="1725" b="1">
                <a:solidFill>
                  <a:srgbClr val="FFFFFF"/>
                </a:solidFill>
                <a:latin typeface="Microsoft YaHei"/>
                <a:ea typeface="Microsoft YaHei"/>
              </a:rPr>
              <a:t> AI</a:t>
            </a:r>
            <a:endParaRPr/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1162050" y="5048250"/>
            <a:ext cx="2886075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概念、语法、报错都可以当场问，不积压问题。</a:t>
            </a:r>
            <a:endParaRPr/>
          </a:p>
        </p:txBody>
      </p:sp>
      <p:sp>
        <p:nvSpPr>
          <p:cNvPr id="98" name="矩形: 圆角 97"/>
          <p:cNvSpPr/>
          <p:nvPr/>
        </p:nvSpPr>
        <p:spPr>
          <a:xfrm>
            <a:off x="4448175" y="4476750"/>
            <a:ext cx="3295650" cy="1514475"/>
          </a:xfrm>
          <a:prstGeom prst="roundRect">
            <a:avLst>
              <a:gd name="adj" fmla="val 7547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4657725" y="4686300"/>
            <a:ext cx="28765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课后补齐知识短板</a:t>
            </a:r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4657725" y="5048250"/>
            <a:ext cx="287655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课上先跑通，课后再系统补基础，学得更快更牢。</a:t>
            </a:r>
            <a:endParaRPr/>
          </a:p>
        </p:txBody>
      </p:sp>
      <p:sp>
        <p:nvSpPr>
          <p:cNvPr id="101" name="矩形: 圆角 100"/>
          <p:cNvSpPr/>
          <p:nvPr/>
        </p:nvSpPr>
        <p:spPr>
          <a:xfrm>
            <a:off x="7934325" y="4476750"/>
            <a:ext cx="3305175" cy="1514475"/>
          </a:xfrm>
          <a:prstGeom prst="roundRect">
            <a:avLst>
              <a:gd name="adj" fmla="val 7547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8143875" y="4686300"/>
            <a:ext cx="28860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做的过程就是学习</a:t>
            </a:r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8143875" y="5048250"/>
            <a:ext cx="2886075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项目推进到哪里，知识就长到哪里，期末答辩见真章。</a:t>
            </a:r>
            <a:endParaRPr/>
          </a:p>
        </p:txBody>
      </p:sp>
      <p:sp>
        <p:nvSpPr>
          <p:cNvPr id="104" name="矩形 10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0" y="6496050"/>
            <a:ext cx="2247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12 / 17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9FC', position: 'relative', overflow: 'hidden' }}&gt;&#10;  &lt;Box style={{ position: 'absolute', top: 0, left: 0, width: 1280, height: 6, background: '#1E4FA8' }} /&gt;&#10;  &lt;Box style={{ position: 'absolute', top: 96, left: 80 }}&gt;&#10;    &lt;Text style={{ fontSize: 300, fontWeight: 'bold', color: '#1E4FA8', opacity: 0.14, lineHeight: 1 }}&gt;03&lt;/Text&gt;&#10;  &lt;/Box&gt;&#10;&#10;  &lt;Box style={{ position: 'absolute', top: 250, left: 420, width: 760 }}&gt;&#10;    &lt;Box style={{ flexDirection: 'row', alignItems: 'center', gap: 16 }}&gt;&#10;      &lt;Box style={{ width: 48, height: 6, background: '#FFC107' }} /&gt;&#10;      &lt;Text style={{ fontSize: 20, color: '#8B97A8', letterSpacing: 6 }}&gt;PART 03&lt;/Text&gt;&#10;    &lt;/Box&gt;&#10;    &lt;Text style={{ fontSize: 62, fontWeight: 'bold', color: '#0E3F8C', marginTop: 22 }}&gt;体验与实践&lt;/Text&gt;&#10;    &lt;Text style={{ fontSize: 24, color: '#4A5568', marginTop: 34, lineHeight: 1.7 }}&gt;光说不练假把式——&#10;今天就把图书管理系统跑起来。&lt;/Text&gt;&#10;    &lt;Box style={{ flexDirection: 'row', gap: 14, marginTop: 44 }}&gt;&#10;      &lt;Box style={{ background: '#E8EFF8', borderRadius: 999, paddingHorizontal: 20, paddingVertical: 10 }}&gt;&#10;        &lt;Text style={{ fontSize: 20, color: '#0E3F8C' }}&gt;图书管理系统&lt;/Text&gt;&#10;      &lt;/Box&gt;&#10;      &lt;Box style={{ background: '#E8EFF8', borderRadius: 999, paddingHorizontal: 20, paddingVertical: 10 }}&gt;&#10;        &lt;Text style={{ fontSize: 20, color: '#0E3F8C' }}&gt;开发流程&lt;/Text&gt;&#10;      &lt;/Box&gt;&#10;      &lt;Box style={{ background: '#E8EFF8', borderRadius: 999, paddingHorizontal: 20, paddingVertical: 10 }}&gt;&#10;        &lt;Text style={{ fontSize: 20, color: '#0E3F8C' }}&gt;课后任务&lt;/Text&gt;&#10;      &lt;/Box&gt;&#10;    &lt;/Box&gt;&#10;  &lt;/Box&gt;&#10;&#10;  &lt;Box style={{ position: 'absolute', bottom: 0, left: 0, width: 1280, height: 60, background: '#0E3F8C', flexDirection: 'row', alignItems: 'center', paddingHorizontal: 40 }}&gt;&#10;    &lt;Text style={{ fontSize: 14, color: '#E8EFF8' }}&gt;武汉工商学院 · 软件开发综合项目实训 · 第 1 讲&lt;/Text&gt;&#10;    &lt;Box style={{ flex: 1 }} /&gt;&#10;    &lt;Text style={{ fontSize: 16, color: '#FFFFFF' }}&gt;13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" name="矩形 10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62000" y="914400"/>
            <a:ext cx="3533775" cy="3429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E4FA8">
                    <a:alpha val="14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1" name="矩形 110"/>
          <p:cNvSpPr/>
          <p:nvPr/>
        </p:nvSpPr>
        <p:spPr>
          <a:xfrm>
            <a:off x="4000500" y="2466975"/>
            <a:ext cx="4572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4610100" y="2381250"/>
            <a:ext cx="11715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8B97A8"/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000500" y="2819400"/>
            <a:ext cx="7239000" cy="714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0E3F8C"/>
                </a:solidFill>
                <a:latin typeface="Microsoft YaHei"/>
                <a:ea typeface="Microsoft YaHei"/>
              </a:rPr>
              <a:t>体验与实践</a:t>
            </a:r>
            <a:endParaRPr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3935896" y="3857625"/>
            <a:ext cx="7971182" cy="1162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altLang="en-US" sz="1800" dirty="0">
                <a:solidFill>
                  <a:srgbClr val="4A5568"/>
                </a:solidFill>
                <a:latin typeface="Microsoft YaHei"/>
                <a:ea typeface="Microsoft YaHei"/>
              </a:rPr>
              <a:t>访问图书管理系统：</a:t>
            </a:r>
            <a:r>
              <a:rPr lang="en-US" altLang="zh-CN" dirty="0">
                <a:solidFill>
                  <a:srgbClr val="4A5568"/>
                </a:solidFill>
                <a:latin typeface="Microsoft YaHei"/>
                <a:ea typeface="Microsoft YaHei"/>
                <a:hlinkClick r:id="rId2"/>
              </a:rPr>
              <a:t>http://tomcat.chende.top/stu_25204149_assign_1/</a:t>
            </a:r>
            <a:endParaRPr lang="en-US" altLang="zh-CN" dirty="0">
              <a:solidFill>
                <a:srgbClr val="4A5568"/>
              </a:solidFill>
              <a:latin typeface="Microsoft YaHei"/>
              <a:ea typeface="Microsoft YaHei"/>
            </a:endParaRPr>
          </a:p>
          <a:p>
            <a:pPr lvl="0"/>
            <a:endParaRPr lang="en-US" altLang="zh-CN" b="1" dirty="0"/>
          </a:p>
          <a:p>
            <a:pPr lvl="0"/>
            <a:r>
              <a:rPr lang="zh-CN" altLang="zh-CN" b="1" dirty="0"/>
              <a:t>管理员账号</a:t>
            </a:r>
            <a:r>
              <a:rPr lang="zh-CN" altLang="zh-CN" dirty="0"/>
              <a:t>：admin / 密码：123456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zh-CN" altLang="zh-CN" b="1" dirty="0"/>
              <a:t>普通用户账号</a:t>
            </a:r>
            <a:r>
              <a:rPr lang="zh-CN" altLang="zh-CN" dirty="0"/>
              <a:t>：请在登录页点击注册，自行创建一个属于你的测试账号。</a:t>
            </a:r>
          </a:p>
          <a:p>
            <a:pPr>
              <a:lnSpc>
                <a:spcPct val="170000"/>
              </a:lnSpc>
            </a:pPr>
            <a:endParaRPr dirty="0"/>
          </a:p>
        </p:txBody>
      </p:sp>
      <p:sp>
        <p:nvSpPr>
          <p:cNvPr id="115" name="矩形: 圆角 114"/>
          <p:cNvSpPr/>
          <p:nvPr/>
        </p:nvSpPr>
        <p:spPr>
          <a:xfrm>
            <a:off x="4000500" y="5591583"/>
            <a:ext cx="1143000" cy="228600"/>
          </a:xfrm>
          <a:prstGeom prst="roundRect">
            <a:avLst>
              <a:gd name="adj" fmla="val 41625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4000500" y="5591583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E3F8C"/>
                </a:solidFill>
                <a:latin typeface="Microsoft YaHei"/>
                <a:ea typeface="Microsoft YaHei"/>
              </a:rPr>
              <a:t>图书管理系统</a:t>
            </a:r>
            <a:endParaRPr dirty="0"/>
          </a:p>
        </p:txBody>
      </p:sp>
      <p:sp>
        <p:nvSpPr>
          <p:cNvPr id="117" name="矩形: 圆角 116"/>
          <p:cNvSpPr/>
          <p:nvPr/>
        </p:nvSpPr>
        <p:spPr>
          <a:xfrm>
            <a:off x="5276850" y="5591583"/>
            <a:ext cx="762000" cy="228600"/>
          </a:xfrm>
          <a:prstGeom prst="roundRect">
            <a:avLst>
              <a:gd name="adj" fmla="val 41625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5276850" y="5591583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0E3F8C"/>
                </a:solidFill>
                <a:latin typeface="Microsoft YaHei"/>
                <a:ea typeface="Microsoft YaHei"/>
              </a:rPr>
              <a:t>开发流程</a:t>
            </a:r>
            <a:endParaRPr/>
          </a:p>
        </p:txBody>
      </p:sp>
      <p:sp>
        <p:nvSpPr>
          <p:cNvPr id="119" name="矩形: 圆角 118"/>
          <p:cNvSpPr/>
          <p:nvPr/>
        </p:nvSpPr>
        <p:spPr>
          <a:xfrm>
            <a:off x="6172200" y="5591583"/>
            <a:ext cx="762000" cy="228600"/>
          </a:xfrm>
          <a:prstGeom prst="roundRect">
            <a:avLst>
              <a:gd name="adj" fmla="val 41625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6172200" y="5591583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E3F8C"/>
                </a:solidFill>
                <a:latin typeface="Microsoft YaHei"/>
                <a:ea typeface="Microsoft YaHei"/>
              </a:rPr>
              <a:t>课后任务</a:t>
            </a:r>
            <a:endParaRPr dirty="0"/>
          </a:p>
        </p:txBody>
      </p:sp>
      <p:sp>
        <p:nvSpPr>
          <p:cNvPr id="121" name="矩形 12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0" y="6496050"/>
            <a:ext cx="2781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讲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13 / 17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osition: 'relative', overflow: 'hidden' }}&gt;&#10;  &lt;Box style={{ position: 'absolute', top: 0, left: 0, width: 1280, height: 80, background: '#1E4FA8', flexDirection: 'row', alignItems: 'center', paddingHorizontal: 40 }}&gt;&#10;    &lt;Text style={{ fontSize: 16, color: '#E8EFF8', opacity: 0.85 }}&gt;03 体验与实践&lt;/Text&gt;&#10;    &lt;Box style={{ flex: 1 }} /&gt;&#10;    &lt;Text style={{ fontSize: 32, fontWeight: 'bold', color: '#FFFFFF' }}&gt;体验 AI 编程：图书管理系统&lt;/Text&gt;&#10;  &lt;/Box&gt;&#10;&#10;  &lt;Box style={{ position: 'absolute', top: 104, left: 40, width: 680, height: 470, background: '#F7F9FC', border: '1px solid #D6DCE5', borderRadius: 12, padding: 24 }}&gt;&#10;    &lt;Text style={{ fontSize: 24, fontWeight: 'bold', color: '#1A2230' }}&gt;项目功能全景&lt;/Text&gt;&#10;    &lt;Box style={{ marginTop: 16 }}&gt;&#10;      &lt;svg width={632} height={360} viewBox='0 0 632 360'&gt;&#10;        &lt;rect x='216' y='6' width='200' height='56' rx='10' fill='#0E3F8C' /&gt;&#10;        &lt;text x='316' y='40' textAnchor='middle' fontSize='19' fontWeight='bold' fill='#FFFFFF'&gt;用户登录 / 注册&lt;/text&gt;&#10;        &lt;path d='M316 62 L316 92' stroke='#3D7BD9' strokeWidth='3' /&gt;&#10;        &lt;path d='M316 92 L307 80 L325 80 Z' fill='#3D7BD9' /&gt;&#10;        &lt;rect x='86' y='100' width='200' height='56' rx='10' fill='#1E4FA8' /&gt;&#10;        &lt;text x='186' y='134' textAnchor='middle' fontSize='19' fontWeight='bold' fill='#FFFFFF'&gt;图书列表查询&lt;/text&gt;&#10;        &lt;rect x='346' y='100' width='200' height='56' rx='10' fill='#1E4FA8' /&gt;&#10;        &lt;text x='446' y='134' textAnchor='middle' fontSize='19' fontWeight='bold' fill='#FFFFFF'&gt;图书增删改&lt;/text&gt;&#10;        &lt;path d='M286 128 L346 128' stroke='#3D7BD9' strokeWidth='3' /&gt;&#10;        &lt;path d='M186 156 L186 186' stroke='#3D7BD9' strokeWidth='3' /&gt;&#10;        &lt;path d='M446 156 L446 186' stroke='#3D7BD9' strokeWidth='3' /&gt;&#10;        &lt;rect x='46' y='194' width='280' height='56' rx='10' fill='#FFFFFF' stroke='#1E4FA8' strokeWidth='2' /&gt;&#10;        &lt;text x='186' y='228' textAnchor='middle' fontSize='19' fontWeight='bold' fill='#1E4FA8'&gt;借阅 / 归还管理&lt;/text&gt;&#10;        &lt;rect x='346' y='194' width='280' height='56' rx='10' fill='#FFFFFF' stroke='#1E4FA8' strokeWidth='2' /&gt;&#10;        &lt;text x='486' y='228' textAnchor='middle' fontSize='19' fontWeight='bold' fill='#1E4FA8'&gt;借阅记录统计&lt;/text&gt;&#10;        &lt;rect x='46' y='282' width='580' height='60' rx='10' fill='#E8EFF8' /&gt;&#10;        &lt;text x='336' y='308' textAnchor='middle' fontSize='18' fill='#0E3F8C'&gt;前端页面（HTML/JS） + 后端接口（Java Web） + 数据库&lt;/text&gt;&#10;        &lt;text x='336' y='330' textAnchor='middle' fontSize='16' fill='#4A5568'&gt;前后端完整链路，与最终自选项目技术栈一致&lt;/text&gt;&#10;      &lt;/svg&gt;&#10;    &lt;/Box&gt;&#10;  &lt;/Box&gt;&#10;&#10;  &lt;Box style={{ position: 'absolute', top: 104, left: 744, width: 496, height: 470, flexDirection: 'column', gap: 14 }}&gt;&#10;    &lt;Box style={{ background: '#F7F9FC', border: '1px solid #D6DCE5', borderRadius: 10, padding: '16px 18px' }}&gt;&#10;      &lt;Box style={{ flexDirection: 'row', alignItems: 'center', gap: 10 }}&gt;&#10;        &lt;FAIcon name='code-branch' style={{ fill: '#1E4FA8', width: 24, height: 24 }} /&gt;&#10;        &lt;Text style={{ fontSize: 22, fontWeight: 'bold', color: '#1A2230' }}&gt;获取模板项目（Gitee）&lt;/Text&gt;&#10;      &lt;/Box&gt;&#10;      &lt;Text style={{ fontSize: 20, color: '#4A5568', marginTop: 8, lineHeight: 1.55 }}&gt;gitee.com/javaweb-dev-tech/lab2_2&#10;下的 book_template 目录&lt;/Text&gt;&#10;    &lt;/Box&gt;&#10;    &lt;Box style={{ background: '#F7F9FC', border: '1px solid #D6DCE5', borderRadius: 10, padding: '16px 18px' }}&gt;&#10;      &lt;Box style={{ flexDirection: 'row', alignItems: 'center', gap: 10 }}&gt;&#10;        &lt;FAIcon name='search' style={{ fill: '#1E4FA8', width: 24, height: 24 }} /&gt;&#10;        &lt;Text style={{ fontSize: 22, fontWeight: 'bold', color: '#1A2230' }}&gt;用 Trae Code 读项目&lt;/Text&gt;&#10;      &lt;/Box&gt;&#10;      &lt;Text style={{ fontSize: 20, color: '#4A5568', marginTop: 8, lineHeight: 1.55 }}&gt;分析模板结构，搞懂前后端代码如何组织、如何跑起来。&lt;/Text&gt;&#10;    &lt;/Box&gt;&#10;    &lt;Box style={{ background: '#F7F9FC', border: '1px solid #D6DCE5', borderRadius: 10, padding: '16px 18px' }}&gt;&#10;      &lt;Box style={{ flexDirection: 'row', alignItems: 'center', gap: 10 }}&gt;&#10;        &lt;FAIcon name='robot' style={{ fill: '#1E4FA8', width: 24, height: 24 }} /&gt;&#10;        &lt;Text style={{ fontSize: 22, fontWeight: 'bold', color: '#1A2230' }}&gt;AI 对话完成功能&lt;/Text&gt;&#10;      &lt;/Box&gt;&#10;      &lt;Text style={{ fontSize: 20, color: '#4A5568', marginTop: 8, lineHeight: 1.55 }}&gt;逐步实现图书增删改查、借阅管理：描述需求 → AI 生成 → 运行验证。&lt;/Text&gt;&#10;    &lt;/Box&gt;&#10;    &lt;Box style={{ background: '#0E3F8C', borderRadius: 10, padding: '16px 18px' }}&gt;&#10;      &lt;Box style={{ flexDirection: 'row', alignItems: 'center', gap: 10 }}&gt;&#10;        &lt;FAIcon name='route' style={{ fill: '#FFC107', width: 24, height: 24 }} /&gt;&#10;        &lt;Text style={{ fontSize: 22, fontWeight: 'bold', color: '#FFFFFF' }}&gt;体验的目标&lt;/Text&gt;&#10;      &lt;/Box&gt;&#10;      &lt;Text style={{ fontSize: 20, color: '#E8EFF8', marginTop: 8, lineHeight: 1.55 }}&gt;不只是把功能做出来，更是&lt;span style={{ fontWeight: 'bold', color: '#FFC107' }}&gt;熟悉完整开发流程&lt;/span&gt;——为做自己的项目热身。&lt;/Text&gt;&#10;    &lt;/Box&gt;&#10;  &lt;/Box&gt;&#10;&#10;  &lt;Box style={{ position: 'absolute', bottom: 0, left: 0, width: 1280, height: 60, background: '#0E3F8C', flexDirection: 'row', alignItems: 'center', paddingHorizontal: 40 }}&gt;&#10;    &lt;Text style={{ fontSize: 14, color: '#E8EFF8' }}&gt;武汉工商学院 · 软件开发综合项目实训&lt;/Text&gt;&#10;    &lt;Box style={{ flex: 1 }} /&gt;&#10;    &lt;Text style={{ fontSize: 16, color: '#FFFFFF' }}&gt;14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6" name="矩形 12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8324850" y="200025"/>
            <a:ext cx="386715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体验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编程：图书管理系统</a:t>
            </a:r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0" y="285750"/>
            <a:ext cx="990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03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体验与实践</a:t>
            </a:r>
            <a:endParaRPr/>
          </a:p>
        </p:txBody>
      </p:sp>
      <p:sp>
        <p:nvSpPr>
          <p:cNvPr id="129" name="矩形: 圆角 128"/>
          <p:cNvSpPr/>
          <p:nvPr/>
        </p:nvSpPr>
        <p:spPr>
          <a:xfrm>
            <a:off x="381000" y="990600"/>
            <a:ext cx="6477000" cy="447675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609600" y="1219200"/>
            <a:ext cx="6019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项目功能全景</a:t>
            </a:r>
            <a:endParaRPr/>
          </a:p>
        </p:txBody>
      </p:sp>
      <p:pic>
        <p:nvPicPr>
          <p:cNvPr id="131" name="图形 1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647825"/>
            <a:ext cx="6019800" cy="3429000"/>
          </a:xfrm>
          <a:prstGeom prst="rect">
            <a:avLst/>
          </a:prstGeom>
          <a:ln/>
        </p:spPr>
      </p:pic>
      <p:sp>
        <p:nvSpPr>
          <p:cNvPr id="132" name="矩形: 圆角 131"/>
          <p:cNvSpPr/>
          <p:nvPr/>
        </p:nvSpPr>
        <p:spPr>
          <a:xfrm>
            <a:off x="7086600" y="990600"/>
            <a:ext cx="4724400" cy="1295400"/>
          </a:xfrm>
          <a:prstGeom prst="roundRect">
            <a:avLst>
              <a:gd name="adj" fmla="val 70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3" name="图形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8050" y="1162050"/>
            <a:ext cx="228600" cy="228600"/>
          </a:xfrm>
          <a:prstGeom prst="rect">
            <a:avLst/>
          </a:prstGeom>
          <a:ln/>
        </p:spPr>
      </p:pic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7581900" y="1143000"/>
            <a:ext cx="22288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获取模板项目（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Gitee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7258050" y="1476375"/>
            <a:ext cx="43815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4A5568"/>
                </a:solidFill>
                <a:latin typeface="Microsoft YaHei"/>
                <a:ea typeface="Microsoft YaHei"/>
              </a:rPr>
              <a:t>gitee.com/</a:t>
            </a:r>
            <a:r>
              <a:rPr lang="en-US" sz="1500" dirty="0" err="1">
                <a:solidFill>
                  <a:srgbClr val="4A5568"/>
                </a:solidFill>
                <a:latin typeface="Microsoft YaHei"/>
                <a:ea typeface="Microsoft YaHei"/>
              </a:rPr>
              <a:t>javaweb</a:t>
            </a:r>
            <a:r>
              <a:rPr lang="en-US" sz="1500" dirty="0">
                <a:solidFill>
                  <a:srgbClr val="4A5568"/>
                </a:solidFill>
                <a:latin typeface="Microsoft YaHei"/>
                <a:ea typeface="Microsoft YaHei"/>
              </a:rPr>
              <a:t>-dev-tech/lab2_2 </a:t>
            </a:r>
            <a:r>
              <a:rPr lang="zh-CN" sz="1500" dirty="0">
                <a:solidFill>
                  <a:srgbClr val="4A5568"/>
                </a:solidFill>
                <a:latin typeface="Microsoft YaHei"/>
                <a:ea typeface="Microsoft YaHei"/>
              </a:rPr>
              <a:t>下的</a:t>
            </a:r>
            <a:r>
              <a:rPr lang="en-US" sz="1500" dirty="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00" dirty="0" err="1">
                <a:solidFill>
                  <a:srgbClr val="4A5568"/>
                </a:solidFill>
                <a:latin typeface="Microsoft YaHei"/>
                <a:ea typeface="Microsoft YaHei"/>
              </a:rPr>
              <a:t>book_template</a:t>
            </a:r>
            <a:r>
              <a:rPr lang="en-US" sz="1500" dirty="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500" dirty="0">
                <a:solidFill>
                  <a:srgbClr val="4A5568"/>
                </a:solidFill>
                <a:latin typeface="Microsoft YaHei"/>
                <a:ea typeface="Microsoft YaHei"/>
              </a:rPr>
              <a:t>目录</a:t>
            </a:r>
            <a:endParaRPr dirty="0"/>
          </a:p>
        </p:txBody>
      </p:sp>
      <p:sp>
        <p:nvSpPr>
          <p:cNvPr id="136" name="矩形: 圆角 135"/>
          <p:cNvSpPr/>
          <p:nvPr/>
        </p:nvSpPr>
        <p:spPr>
          <a:xfrm>
            <a:off x="7086600" y="2381250"/>
            <a:ext cx="4724400" cy="1200150"/>
          </a:xfrm>
          <a:prstGeom prst="roundRect">
            <a:avLst>
              <a:gd name="adj" fmla="val 70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7" name="图形 1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8050" y="2647950"/>
            <a:ext cx="228600" cy="228600"/>
          </a:xfrm>
          <a:prstGeom prst="rect">
            <a:avLst/>
          </a:prstGeom>
          <a:ln/>
        </p:spPr>
      </p:pic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7581900" y="2628900"/>
            <a:ext cx="20193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用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Trae Code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读项目</a:t>
            </a:r>
            <a:endParaRPr/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258050" y="2962275"/>
            <a:ext cx="43815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00" dirty="0">
                <a:solidFill>
                  <a:srgbClr val="4A5568"/>
                </a:solidFill>
                <a:latin typeface="Microsoft YaHei"/>
                <a:ea typeface="Microsoft YaHei"/>
              </a:rPr>
              <a:t>分析模板结构，搞懂前后端代码如何组织、如何跑起来。</a:t>
            </a:r>
            <a:endParaRPr dirty="0"/>
          </a:p>
        </p:txBody>
      </p:sp>
      <p:sp>
        <p:nvSpPr>
          <p:cNvPr id="140" name="矩形: 圆角 139"/>
          <p:cNvSpPr/>
          <p:nvPr/>
        </p:nvSpPr>
        <p:spPr>
          <a:xfrm>
            <a:off x="7086600" y="3667125"/>
            <a:ext cx="4724400" cy="1070121"/>
          </a:xfrm>
          <a:prstGeom prst="roundRect">
            <a:avLst>
              <a:gd name="adj" fmla="val 70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1" name="图形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8050" y="3716409"/>
            <a:ext cx="228600" cy="228600"/>
          </a:xfrm>
          <a:prstGeom prst="rect">
            <a:avLst/>
          </a:prstGeom>
          <a:ln/>
        </p:spPr>
      </p:pic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7581900" y="3697359"/>
            <a:ext cx="15525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对话完成功能</a:t>
            </a:r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7258050" y="4030734"/>
            <a:ext cx="43815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00" dirty="0">
                <a:solidFill>
                  <a:srgbClr val="4A5568"/>
                </a:solidFill>
                <a:latin typeface="Microsoft YaHei"/>
                <a:ea typeface="Microsoft YaHei"/>
              </a:rPr>
              <a:t>逐步实现图书增删改查、借阅管理：描述需求</a:t>
            </a:r>
            <a:r>
              <a:rPr lang="en-US" sz="1500" dirty="0">
                <a:solidFill>
                  <a:srgbClr val="4A5568"/>
                </a:solidFill>
                <a:latin typeface="Microsoft YaHei"/>
                <a:ea typeface="Microsoft YaHei"/>
              </a:rPr>
              <a:t> → AI </a:t>
            </a:r>
            <a:r>
              <a:rPr lang="zh-CN" sz="1500" dirty="0">
                <a:solidFill>
                  <a:srgbClr val="4A5568"/>
                </a:solidFill>
                <a:latin typeface="Microsoft YaHei"/>
                <a:ea typeface="Microsoft YaHei"/>
              </a:rPr>
              <a:t>生成</a:t>
            </a:r>
            <a:r>
              <a:rPr lang="en-US" sz="1500" dirty="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500" dirty="0">
                <a:solidFill>
                  <a:srgbClr val="4A5568"/>
                </a:solidFill>
                <a:latin typeface="Microsoft YaHei"/>
                <a:ea typeface="Microsoft YaHei"/>
              </a:rPr>
              <a:t>运行验证。</a:t>
            </a:r>
            <a:endParaRPr dirty="0"/>
          </a:p>
        </p:txBody>
      </p:sp>
      <p:sp>
        <p:nvSpPr>
          <p:cNvPr id="144" name="矩形: 圆角 143"/>
          <p:cNvSpPr/>
          <p:nvPr/>
        </p:nvSpPr>
        <p:spPr>
          <a:xfrm>
            <a:off x="7086600" y="4885086"/>
            <a:ext cx="4724400" cy="1155832"/>
          </a:xfrm>
          <a:prstGeom prst="roundRect">
            <a:avLst>
              <a:gd name="adj" fmla="val 7042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5" name="图形 1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8050" y="4884257"/>
            <a:ext cx="228600" cy="228600"/>
          </a:xfrm>
          <a:prstGeom prst="rect">
            <a:avLst/>
          </a:prstGeom>
          <a:ln/>
        </p:spPr>
      </p:pic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7581900" y="4865207"/>
            <a:ext cx="1047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体验的目标</a:t>
            </a:r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7258050" y="5198582"/>
            <a:ext cx="43815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不只是把功能做出来，更是</a:t>
            </a:r>
            <a:r>
              <a:rPr lang="zh-CN" sz="1500" b="1">
                <a:solidFill>
                  <a:srgbClr val="FFC107"/>
                </a:solidFill>
                <a:latin typeface="Microsoft YaHei"/>
                <a:ea typeface="Microsoft YaHei"/>
              </a:rPr>
              <a:t>熟悉完整开发流程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——为做自己的项目热身。</a:t>
            </a:r>
            <a:endParaRPr/>
          </a:p>
        </p:txBody>
      </p:sp>
      <p:sp>
        <p:nvSpPr>
          <p:cNvPr id="148" name="矩形 14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0" y="6496050"/>
            <a:ext cx="2247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1677650" y="5741507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14 / 17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9FC', position: 'relative', overflow: 'hidden' }}&gt;&#10;  &lt;Box style={{ position: 'absolute', top: 0, left: 0, width: 1280, height: 80, background: '#1E4FA8', flexDirection: 'row', alignItems: 'center', paddingHorizontal: 40 }}&gt;&#10;    &lt;Text style={{ fontSize: 16, color: '#E8EFF8', opacity: 0.85 }}&gt;03 体验与实践&lt;/Text&gt;&#10;    &lt;Box style={{ flex: 1 }} /&gt;&#10;    &lt;Text style={{ fontSize: 32, fontWeight: 'bold', color: '#FFFFFF' }}&gt;软件开发流程与课程任务&lt;/Text&gt;&#10;  &lt;/Box&gt;&#10;&#10;  &lt;Box style={{ position: 'absolute', top: 96, left: 40, width: 1200 }}&gt;&#10;    &lt;svg width={1200} height={132} viewBox='0 0 1200 132'&gt;&#10;      &lt;line x1='70' y1='48' x2='1130' y2='48' stroke='#D6DCE5' strokeWidth='3' /&gt;&#10;      &lt;circle cx='120' cy='48' r='24' fill='#1E4FA8' /&gt;&#10;      &lt;text x='120' y='55' textAnchor='middle' fontSize='18' fontWeight='bold' fill='#FFFFFF'&gt;1&lt;/text&gt;&#10;      &lt;circle cx='360' cy='48' r='24' fill='#1E4FA8' /&gt;&#10;      &lt;text x='360' y='55' textAnchor='middle' fontSize='18' fontWeight='bold' fill='#FFFFFF'&gt;2&lt;/text&gt;&#10;      &lt;circle cx='600' cy='48' r='24' fill='#0E3F8C' /&gt;&#10;      &lt;text x='600' y='55' textAnchor='middle' fontSize='18' fontWeight='bold' fill='#FFFFFF'&gt;3&lt;/text&gt;&#10;      &lt;circle cx='840' cy='48' r='24' fill='#1E4FA8' /&gt;&#10;      &lt;text x='840' y='55' textAnchor='middle' fontSize='18' fontWeight='bold' fill='#FFFFFF'&gt;4&lt;/text&gt;&#10;      &lt;circle cx='1080' cy='48' r='24' fill='#1E4FA8' /&gt;&#10;      &lt;text x='1080' y='55' textAnchor='middle' fontSize='18' fontWeight='bold' fill='#FFFFFF'&gt;5&lt;/text&gt;&#10;      &lt;text x='120' y='100' textAnchor='middle' fontSize='20' fontWeight='bold' fill='#0E3F8C'&gt;需求分析&lt;/text&gt;&#10;      &lt;text x='360' y='100' textAnchor='middle' fontSize='20' fontWeight='bold' fill='#0E3F8C'&gt;系统设计&lt;/text&gt;&#10;      &lt;text x='600' y='100' textAnchor='middle' fontSize='20' fontWeight='bold' fill='#0E3F8C'&gt;编码实现&lt;/text&gt;&#10;      &lt;text x='840' y='100' textAnchor='middle' fontSize='20' fontWeight='bold' fill='#0E3F8C'&gt;测试&lt;/text&gt;&#10;      &lt;text x='1080' y='100' textAnchor='middle' fontSize='20' fontWeight='bold' fill='#0E3F8C'&gt;部署演示&lt;/text&gt;&#10;    &lt;/svg&gt;&#10;  &lt;/Box&gt;&#10;&#10;  &lt;Box style={{ position: 'absolute', top: 250, left: 40, width: 1200, flexDirection: 'row', gap: 16 }}&gt;&#10;    &lt;Box style={{ flex: 1, background: '#FFFFFF', border: '1px solid #D6DCE5', borderRadius: 10, padding: 18 }}&gt;&#10;      &lt;Text style={{ fontSize: 22, fontWeight: 'bold', color: '#1A2230' }}&gt;想清楚做什么&lt;/Text&gt;&#10;      &lt;Text style={{ fontSize: 20, color: '#4A5568', marginTop: 10, lineHeight: 1.55 }}&gt;Skill 辅助选题、梳理功能需求清单。&lt;/Text&gt;&#10;      &lt;Box style={{ marginTop: 12, background: '#E8EFF8', borderRadius: 6, padding: '8px 10px' }}&gt;&#10;        &lt;Text style={{ fontSize: 17, color: '#0E3F8C' }}&gt;得分点：需求文档&lt;/Text&gt;&#10;      &lt;/Box&gt;&#10;    &lt;/Box&gt;&#10;    &lt;Box style={{ flex: 1, background: '#FFFFFF', border: '1px solid #D6DCE5', borderRadius: 10, padding: 18 }}&gt;&#10;      &lt;Text style={{ fontSize: 22, fontWeight: 'bold', color: '#1A2230' }}&gt;设计系统结构&lt;/Text&gt;&#10;      &lt;Text style={{ fontSize: 20, color: '#4A5568', marginTop: 10, lineHeight: 1.55 }}&gt;数据库表、接口、页面结构先画出来。&lt;/Text&gt;&#10;      &lt;Box style={{ marginTop: 12, background: '#E8EFF8', borderRadius: 6, padding: '8px 10px' }}&gt;&#10;        &lt;Text style={{ fontSize: 17, color: '#0E3F8C' }}&gt;得分点：设计文档&lt;/Text&gt;&#10;      &lt;/Box&gt;&#10;    &lt;/Box&gt;&#10;    &lt;Box style={{ flex: 1, background: '#0E3F8C', borderRadius: 10, padding: 18 }}&gt;&#10;      &lt;Text style={{ fontSize: 22, fontWeight: 'bold', color: '#FFFFFF' }}&gt;Trae Code 写代码&lt;/Text&gt;&#10;      &lt;Text style={{ fontSize: 20, color: '#E8EFF8', marginTop: 10, lineHeight: 1.55 }}&gt;AI 生成 + 自己调试，边做边学。&lt;/Text&gt;&#10;      &lt;Box style={{ marginTop: 12, background: '#1E4FA8', borderRadius: 6, padding: '8px 10px' }}&gt;&#10;        &lt;Text style={{ fontSize: 17, color: '#FFC107' }}&gt;得分点：AI 使用情况 + 报告&lt;/Text&gt;&#10;      &lt;/Box&gt;&#10;    &lt;/Box&gt;&#10;    &lt;Box style={{ flex: 1, background: '#FFFFFF', border: '1px solid #D6DCE5', borderRadius: 10, padding: 18 }}&gt;&#10;      &lt;Text style={{ fontSize: 22, fontWeight: 'bold', color: '#1A2230' }}&gt;功能逐项验证&lt;/Text&gt;&#10;      &lt;Text style={{ fontSize: 20, color: '#4A5568', marginTop: 10, lineHeight: 1.55 }}&gt;对照需求清单逐条测试，不放过报错。&lt;/Text&gt;&#10;      &lt;Box style={{ marginTop: 12, background: '#E8EFF8', borderRadius: 6, padding: '8px 10px' }}&gt;&#10;        &lt;Text style={{ fontSize: 17, color: '#0E3F8C' }}&gt;得分点：系统质量&lt;/Text&gt;&#10;      &lt;/Box&gt;&#10;    &lt;/Box&gt;&#10;    &lt;Box style={{ flex: 1, background: '#FFFFFF', border: '1px solid #D6DCE5', borderRadius: 10, padding: 18 }}&gt;&#10;      &lt;Text style={{ fontSize: 22, fontWeight: 'bold', color: '#1A2230' }}&gt;演示与答辩&lt;/Text&gt;&#10;      &lt;Text style={{ fontSize: 20, color: '#4A5568', marginTop: 10, lineHeight: 1.55 }}&gt;现场运行系统，回答老师提问。&lt;/Text&gt;&#10;      &lt;Box style={{ marginTop: 12, background: '#E8EFF8', borderRadius: 6, padding: '8px 10px' }}&gt;&#10;        &lt;Text style={{ fontSize: 17, color: '#0E3F8C' }}&gt;得分点：答辩 30%&lt;/Text&gt;&#10;      &lt;/Box&gt;&#10;    &lt;/Box&gt;&#10;  &lt;/Box&gt;&#10;&#10;  &lt;Box style={{ position: 'absolute', top: 548, left: 40, width: 1200, background: '#E8EFF8', borderRadius: 10, padding: '14px 22px', flexDirection: 'row', alignItems: 'center', gap: 12 }}&gt;&#10;    &lt;FAIcon name='link' style={{ fill: '#0E3F8C', width: 26, height: 26 }} /&gt;&#10;    &lt;Text style={{ fontSize: 22, color: '#0E3F8C' }}&gt;流程五步对应课程每个阶段的任务——&lt;span style={{ fontWeight: 'bold' }}&gt;每一步都有得分点，每一步都离不开文档与 AI 工具的正确使用。&lt;/span&gt;&lt;/Text&gt;&#10;  &lt;/Box&gt;&#10;&#10;  &lt;Box style={{ position: 'absolute', bottom: 0, left: 0, width: 1280, height: 60, background: '#0E3F8C', flexDirection: 'row', alignItems: 'center', paddingHorizontal: 40 }}&gt;&#10;    &lt;Text style={{ fontSize: 14, color: '#E8EFF8' }}&gt;武汉工商学院 · 软件开发综合项目实训&lt;/Text&gt;&#10;    &lt;Box style={{ flex: 1 }} /&gt;&#10;    &lt;Text style={{ fontSize: 16, color: '#FFFFFF' }}&gt;15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" name="矩形 15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8839200" y="200025"/>
            <a:ext cx="33528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软件开发流程与课程任务</a:t>
            </a:r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0" y="285750"/>
            <a:ext cx="990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03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体验与实践</a:t>
            </a:r>
            <a:endParaRPr/>
          </a:p>
        </p:txBody>
      </p:sp>
      <p:pic>
        <p:nvPicPr>
          <p:cNvPr id="156" name="图形 15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914400"/>
            <a:ext cx="11430000" cy="1257300"/>
          </a:xfrm>
          <a:prstGeom prst="rect">
            <a:avLst/>
          </a:prstGeom>
          <a:ln/>
        </p:spPr>
      </p:pic>
      <p:sp>
        <p:nvSpPr>
          <p:cNvPr id="157" name="矩形: 圆角 156"/>
          <p:cNvSpPr/>
          <p:nvPr/>
        </p:nvSpPr>
        <p:spPr>
          <a:xfrm>
            <a:off x="381000" y="2381250"/>
            <a:ext cx="2162175" cy="2066925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52450" y="2552700"/>
            <a:ext cx="18192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想清楚做什么</a:t>
            </a:r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552450" y="2905125"/>
            <a:ext cx="1819275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Skill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辅助选题、梳理功能需求清单。</a:t>
            </a:r>
            <a:endParaRPr/>
          </a:p>
        </p:txBody>
      </p:sp>
      <p:sp>
        <p:nvSpPr>
          <p:cNvPr id="160" name="矩形: 圆角 159"/>
          <p:cNvSpPr/>
          <p:nvPr/>
        </p:nvSpPr>
        <p:spPr>
          <a:xfrm>
            <a:off x="552450" y="3733800"/>
            <a:ext cx="1819275" cy="352425"/>
          </a:xfrm>
          <a:prstGeom prst="roundRect">
            <a:avLst>
              <a:gd name="adj" fmla="val 16216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647700" y="3810000"/>
            <a:ext cx="1628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得分点：需求文档</a:t>
            </a:r>
            <a:endParaRPr/>
          </a:p>
        </p:txBody>
      </p:sp>
      <p:sp>
        <p:nvSpPr>
          <p:cNvPr id="162" name="矩形: 圆角 161"/>
          <p:cNvSpPr/>
          <p:nvPr/>
        </p:nvSpPr>
        <p:spPr>
          <a:xfrm>
            <a:off x="2695575" y="2381250"/>
            <a:ext cx="2162175" cy="2066925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2867025" y="2552700"/>
            <a:ext cx="18192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设计系统结构</a:t>
            </a:r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2867025" y="2905125"/>
            <a:ext cx="1819275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数据库表、接口、页面结构先画出来。</a:t>
            </a:r>
            <a:endParaRPr/>
          </a:p>
        </p:txBody>
      </p:sp>
      <p:sp>
        <p:nvSpPr>
          <p:cNvPr id="165" name="矩形: 圆角 164"/>
          <p:cNvSpPr/>
          <p:nvPr/>
        </p:nvSpPr>
        <p:spPr>
          <a:xfrm>
            <a:off x="2867025" y="3733800"/>
            <a:ext cx="1819275" cy="352425"/>
          </a:xfrm>
          <a:prstGeom prst="roundRect">
            <a:avLst>
              <a:gd name="adj" fmla="val 16216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2962275" y="3810000"/>
            <a:ext cx="1628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得分点：设计文档</a:t>
            </a:r>
            <a:endParaRPr/>
          </a:p>
        </p:txBody>
      </p:sp>
      <p:sp>
        <p:nvSpPr>
          <p:cNvPr id="167" name="矩形: 圆角 166"/>
          <p:cNvSpPr/>
          <p:nvPr/>
        </p:nvSpPr>
        <p:spPr>
          <a:xfrm>
            <a:off x="5010150" y="2381250"/>
            <a:ext cx="2171700" cy="2066925"/>
          </a:xfrm>
          <a:prstGeom prst="roundRect">
            <a:avLst>
              <a:gd name="adj" fmla="val 4608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181600" y="2552700"/>
            <a:ext cx="18288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Trae Code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写代码</a:t>
            </a:r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181600" y="2905125"/>
            <a:ext cx="18288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生成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自己调试，边做边学。</a:t>
            </a:r>
            <a:endParaRPr/>
          </a:p>
        </p:txBody>
      </p:sp>
      <p:sp>
        <p:nvSpPr>
          <p:cNvPr id="170" name="矩形: 圆角 169"/>
          <p:cNvSpPr/>
          <p:nvPr/>
        </p:nvSpPr>
        <p:spPr>
          <a:xfrm>
            <a:off x="5181600" y="3733800"/>
            <a:ext cx="1828800" cy="542925"/>
          </a:xfrm>
          <a:prstGeom prst="roundRect">
            <a:avLst>
              <a:gd name="adj" fmla="val 10526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5276850" y="3810000"/>
            <a:ext cx="16383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FFC107"/>
                </a:solidFill>
                <a:latin typeface="Microsoft YaHei"/>
                <a:ea typeface="Microsoft YaHei"/>
              </a:rPr>
              <a:t>得分点：</a:t>
            </a:r>
            <a:r>
              <a:rPr lang="en-US" sz="1275">
                <a:solidFill>
                  <a:srgbClr val="FFC107"/>
                </a:solidFill>
                <a:latin typeface="Microsoft YaHei"/>
                <a:ea typeface="Microsoft YaHei"/>
              </a:rPr>
              <a:t>AI </a:t>
            </a:r>
            <a:r>
              <a:rPr lang="zh-CN" sz="1275">
                <a:solidFill>
                  <a:srgbClr val="FFC107"/>
                </a:solidFill>
                <a:latin typeface="Microsoft YaHei"/>
                <a:ea typeface="Microsoft YaHei"/>
              </a:rPr>
              <a:t>使用情况</a:t>
            </a:r>
            <a:r>
              <a:rPr lang="en-US" sz="1275">
                <a:solidFill>
                  <a:srgbClr val="FFC107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FFC107"/>
                </a:solidFill>
                <a:latin typeface="Microsoft YaHei"/>
                <a:ea typeface="Microsoft YaHei"/>
              </a:rPr>
              <a:t>报告</a:t>
            </a:r>
            <a:endParaRPr/>
          </a:p>
        </p:txBody>
      </p:sp>
      <p:sp>
        <p:nvSpPr>
          <p:cNvPr id="172" name="矩形: 圆角 171"/>
          <p:cNvSpPr/>
          <p:nvPr/>
        </p:nvSpPr>
        <p:spPr>
          <a:xfrm>
            <a:off x="7334250" y="2381250"/>
            <a:ext cx="2162175" cy="2066925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7505700" y="2552700"/>
            <a:ext cx="18192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功能逐项验证</a:t>
            </a:r>
            <a:endParaRPr/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7505700" y="2905125"/>
            <a:ext cx="1819275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对照需求清单逐条测试，不放过报错。</a:t>
            </a:r>
            <a:endParaRPr/>
          </a:p>
        </p:txBody>
      </p:sp>
      <p:sp>
        <p:nvSpPr>
          <p:cNvPr id="175" name="矩形: 圆角 174"/>
          <p:cNvSpPr/>
          <p:nvPr/>
        </p:nvSpPr>
        <p:spPr>
          <a:xfrm>
            <a:off x="7505700" y="3733800"/>
            <a:ext cx="1819275" cy="352425"/>
          </a:xfrm>
          <a:prstGeom prst="roundRect">
            <a:avLst>
              <a:gd name="adj" fmla="val 16216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7600950" y="3810000"/>
            <a:ext cx="1628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得分点：系统质量</a:t>
            </a:r>
            <a:endParaRPr/>
          </a:p>
        </p:txBody>
      </p:sp>
      <p:sp>
        <p:nvSpPr>
          <p:cNvPr id="177" name="矩形: 圆角 176"/>
          <p:cNvSpPr/>
          <p:nvPr/>
        </p:nvSpPr>
        <p:spPr>
          <a:xfrm>
            <a:off x="9648825" y="2381250"/>
            <a:ext cx="2162175" cy="2066925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9820275" y="2552700"/>
            <a:ext cx="18192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演示与答辩</a:t>
            </a:r>
            <a:endParaRPr/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9820275" y="2905125"/>
            <a:ext cx="1819275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现场运行系统，回答老师提问。</a:t>
            </a:r>
            <a:endParaRPr/>
          </a:p>
        </p:txBody>
      </p:sp>
      <p:sp>
        <p:nvSpPr>
          <p:cNvPr id="180" name="矩形: 圆角 179"/>
          <p:cNvSpPr/>
          <p:nvPr/>
        </p:nvSpPr>
        <p:spPr>
          <a:xfrm>
            <a:off x="9820275" y="3733800"/>
            <a:ext cx="1819275" cy="352425"/>
          </a:xfrm>
          <a:prstGeom prst="roundRect">
            <a:avLst>
              <a:gd name="adj" fmla="val 16216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9915525" y="3810000"/>
            <a:ext cx="1628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得分点：答辩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 30%</a:t>
            </a:r>
            <a:endParaRPr/>
          </a:p>
        </p:txBody>
      </p:sp>
      <p:sp>
        <p:nvSpPr>
          <p:cNvPr id="182" name="矩形: 圆角 181"/>
          <p:cNvSpPr/>
          <p:nvPr/>
        </p:nvSpPr>
        <p:spPr>
          <a:xfrm>
            <a:off x="381000" y="5219700"/>
            <a:ext cx="11430000" cy="523875"/>
          </a:xfrm>
          <a:prstGeom prst="roundRect">
            <a:avLst>
              <a:gd name="adj" fmla="val 18182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3" name="图形 18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50" y="5362575"/>
            <a:ext cx="247650" cy="247650"/>
          </a:xfrm>
          <a:prstGeom prst="rect">
            <a:avLst/>
          </a:prstGeom>
          <a:ln/>
        </p:spPr>
      </p:pic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952500" y="5353050"/>
            <a:ext cx="96107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0E3F8C"/>
                </a:solidFill>
                <a:latin typeface="Microsoft YaHei"/>
                <a:ea typeface="Microsoft YaHei"/>
              </a:rPr>
              <a:t>流程五步对应课程每个阶段的任务——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每一步都有得分点，每一步都离不开文档与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AI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工具的正确使用。</a:t>
            </a:r>
            <a:endParaRPr/>
          </a:p>
        </p:txBody>
      </p:sp>
      <p:sp>
        <p:nvSpPr>
          <p:cNvPr id="185" name="矩形 18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0" y="6496050"/>
            <a:ext cx="2247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15 / 17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9FC', position: 'relative', overflow: 'hidden' }}&gt;&#10;  &lt;Box style={{ position: 'absolute', top: 0, left: 0, width: 1280, height: 80, background: '#1E4FA8', flexDirection: 'row', alignItems: 'center', paddingHorizontal: 40 }}&gt;&#10;    &lt;Text style={{ fontSize: 16, color: '#E8EFF8', opacity: 0.85 }}&gt;03 体验与实践&lt;/Text&gt;&#10;    &lt;Box style={{ flex: 1 }} /&gt;&#10;    &lt;Text style={{ fontSize: 32, fontWeight: 'bold', color: '#FFFFFF' }}&gt;课后任务与小结&lt;/Text&gt;&#10;  &lt;/Box&gt;&#10;&#10;  &lt;Box style={{ position: 'absolute', top: 80, left: 40, width: 340, height: 580, background: '#0E3F8C' }}&gt;&#10;    &lt;Box style={{ padding: 30 }}&gt;&#10;      &lt;Box style={{ width: 44, height: 6, background: '#FFC107' }} /&gt;&#10;      &lt;Text style={{ fontSize: 26, fontWeight: 'bold', color: '#FFFFFF', marginTop: 20, lineHeight: 1.5 }}&gt;今天记住三句话&lt;/Text&gt;&#10;      &lt;Box style={{ marginTop: 26, gap: 22 }}&gt;&#10;        &lt;Text style={{ fontSize: 22, color: '#E8EFF8', lineHeight: 1.65 }}&gt;&lt;span style={{ fontWeight: 'bold', color: '#FFC107' }}&gt;01&lt;/span&gt;　这是一门做项目的课，AI 是你的学习助手。&lt;/Text&gt;&#10;        &lt;Text style={{ fontSize: 22, color: '#E8EFF8', lineHeight: 1.65 }}&gt;&lt;span style={{ fontWeight: 'bold', color: '#FFC107' }}&gt;02&lt;/span&gt;　考核看过程也看结果：20 / 50 / 30。&lt;/Text&gt;&#10;        &lt;Text style={{ fontSize: 22, color: '#E8EFF8', lineHeight: 1.65 }}&gt;&lt;span style={{ fontWeight: 'bold', color: '#FFC107' }}&gt;03&lt;/span&gt;　边做边学，能讲清楚的代码才算你的。&lt;/Text&gt;&#10;      &lt;/Box&gt;&#10;    &lt;/Box&gt;&#10;  &lt;/Box&gt;&#10;&#10;  &lt;Box style={{ position: 'absolute', top: 80, left: 420, width: 820, height: 580, flexDirection: 'column', padding: '28px 0 0 28px' }}&gt;&#10;    &lt;Text style={{ fontSize: 26, fontWeight: 'bold', color: '#1A2230' }}&gt;课后任务（下次课前完成）&lt;/Text&gt;&#10;    &lt;Box style={{ marginTop: 20, gap: 16 }}&gt;&#10;      &lt;Box style={{ flexDirection: 'row', gap: 16, alignItems: 'flex-start', background: '#FFFFFF', border: '1px solid #D6DCE5', borderRadius: 10, padding: 20 }}&gt;&#10;        &lt;Box style={{ width: 52, height: 52, background: '#1E4FA8', borderRadius: 10, justifyContent: 'center', alignItems: 'center' }}&gt;&#10;          &lt;Text style={{ fontSize: 24, fontWeight: 'bold', color: '#FFFFFF' }}&gt;1&lt;/Text&gt;&#10;        &lt;/Box&gt;&#10;        &lt;Box style={{ flex: 1 }}&gt;&#10;          &lt;Text style={{ fontSize: 23, fontWeight: 'bold', color: '#1A2230' }}&gt;注册并登录 Trae Code 与 Gitee&lt;/Text&gt;&#10;          &lt;Text style={{ fontSize: 21, color: '#4A5568', marginTop: 6, lineHeight: 1.55 }}&gt;完成安装与环境配置；手机袋之外，工具账号就是你的&quot;第二支笔&quot;。&lt;/Text&gt;&#10;        &lt;/Box&gt;&#10;      &lt;/Box&gt;&#10;      &lt;Box style={{ flexDirection: 'row', gap: 16, alignItems: 'flex-start', background: '#FFFFFF', border: '1px solid #D6DCE5', borderRadius: 10, padding: 20 }}&gt;&#10;        &lt;Box style={{ width: 52, height: 52, background: '#1E4FA8', borderRadius: 10, justifyContent: 'center', alignItems: 'center' }}&gt;&#10;          &lt;Text style={{ fontSize: 24, fontWeight: 'bold', color: '#FFFFFF' }}&gt;2&lt;/Text&gt;&#10;        &lt;/Box&gt;&#10;        &lt;Box style={{ flex: 1 }}&gt;&#10;          &lt;Text style={{ fontSize: 23, fontWeight: 'bold', color: '#1A2230' }}&gt;浏览课程专题网站&lt;/Text&gt;&#10;          &lt;Text style={{ fontSize: 21, color: '#4A5568', marginTop: 6, lineHeight: 1.55 }}&gt;wtbu.chende.top/project-ai/ —— 系统了解 AI 大模型知识，下次课随堂提问。&lt;/Text&gt;&#10;        &lt;/Box&gt;&#10;      &lt;/Box&gt;&#10;      &lt;Box style={{ flexDirection: 'row', gap: 16, alignItems: 'flex-start', background: '#FFFFFF', border: '1px solid #D6DCE5', borderRadius: 10, padding: 20 }}&gt;&#10;        &lt;Box style={{ width: 52, height: 52, background: '#0E3F8C', borderRadius: 10, justifyContent: 'center', alignItems: 'center' }}&gt;&#10;          &lt;Text style={{ fontSize: 24, fontWeight: 'bold', color: '#FFFFFF' }}&gt;3&lt;/Text&gt;&#10;        &lt;/Box&gt;&#10;        &lt;Box style={{ flex: 1 }}&gt;&#10;          &lt;Text style={{ fontSize: 23, fontWeight: 'bold', color: '#1A2230' }}&gt;思考自己的项目选题&lt;/Text&gt;&#10;          &lt;Text style={{ fontSize: 21, color: '#4A5568', marginTop: 6, lineHeight: 1.55 }}&gt;准备 1-2 个想做的系统方向（如校园二手书、失物招领、社团管理），下次课讨论。&lt;/Text&gt;&#10;        &lt;/Box&gt;&#10;      &lt;/Box&gt;&#10;    &lt;/Box&gt;&#10;  &lt;/Box&gt;&#10;&#10;  &lt;Box style={{ position: 'absolute', bottom: 0, left: 0, width: 1280, height: 60, background: '#0E3F8C', flexDirection: 'row', alignItems: 'center', paddingHorizontal: 40 }}&gt;&#10;    &lt;Text style={{ fontSize: 14, color: '#E8EFF8' }}&gt;武汉工商学院 · 软件开发综合项目实训&lt;/Text&gt;&#10;    &lt;Box style={{ flex: 1 }} /&gt;&#10;    &lt;Text style={{ fontSize: 16, color: '#FFFFFF' }}&gt;16 / 17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 1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0" name="矩形 189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10058400" y="200025"/>
            <a:ext cx="21336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课后任务与小结</a:t>
            </a:r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0" y="285750"/>
            <a:ext cx="990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03 </a:t>
            </a:r>
            <a:r>
              <a:rPr lang="zh-CN" sz="1200">
                <a:solidFill>
                  <a:srgbClr val="E8EFF8">
                    <a:alpha val="85000"/>
                  </a:srgbClr>
                </a:solidFill>
                <a:latin typeface="Microsoft YaHei"/>
                <a:ea typeface="Microsoft YaHei"/>
              </a:rPr>
              <a:t>体验与实践</a:t>
            </a:r>
            <a:endParaRPr/>
          </a:p>
        </p:txBody>
      </p:sp>
      <p:sp>
        <p:nvSpPr>
          <p:cNvPr id="193" name="矩形 192"/>
          <p:cNvSpPr/>
          <p:nvPr/>
        </p:nvSpPr>
        <p:spPr>
          <a:xfrm>
            <a:off x="381000" y="762000"/>
            <a:ext cx="323850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4" name="矩形 193"/>
          <p:cNvSpPr/>
          <p:nvPr/>
        </p:nvSpPr>
        <p:spPr>
          <a:xfrm>
            <a:off x="666750" y="1047750"/>
            <a:ext cx="4191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666750" y="1295400"/>
            <a:ext cx="26670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今天记住三句话</a:t>
            </a:r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66750" y="1990725"/>
            <a:ext cx="2667000" cy="838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>01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　这是一门做项目的课，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AI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是你的学习助手。</a:t>
            </a:r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66750" y="3038475"/>
            <a:ext cx="2667000" cy="838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>02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　考核看过程也看结果：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20 / 50 / 30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666750" y="4086225"/>
            <a:ext cx="2667000" cy="838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>03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　边做边学，能讲清楚的代码才算你的。</a:t>
            </a:r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4267200" y="1028700"/>
            <a:ext cx="75438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课后任务（下次课前完成）</a:t>
            </a:r>
            <a:endParaRPr/>
          </a:p>
        </p:txBody>
      </p:sp>
      <p:sp>
        <p:nvSpPr>
          <p:cNvPr id="200" name="矩形: 圆角 199"/>
          <p:cNvSpPr/>
          <p:nvPr/>
        </p:nvSpPr>
        <p:spPr>
          <a:xfrm>
            <a:off x="4267200" y="1524000"/>
            <a:ext cx="7543800" cy="1085850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矩形: 圆角 200"/>
          <p:cNvSpPr/>
          <p:nvPr/>
        </p:nvSpPr>
        <p:spPr>
          <a:xfrm>
            <a:off x="4457700" y="17145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4638675" y="1828800"/>
            <a:ext cx="1428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105400" y="1714500"/>
            <a:ext cx="65151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注册并登录</a:t>
            </a: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 Trae Code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 Gitee</a:t>
            </a:r>
            <a:endParaRPr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5105400" y="2038350"/>
            <a:ext cx="65151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完成安装与环境配置；手机袋之外，工具账号就是你的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第二支笔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05" name="矩形: 圆角 204"/>
          <p:cNvSpPr/>
          <p:nvPr/>
        </p:nvSpPr>
        <p:spPr>
          <a:xfrm>
            <a:off x="4267200" y="2762250"/>
            <a:ext cx="7543800" cy="1457325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6" name="矩形: 圆角 205"/>
          <p:cNvSpPr/>
          <p:nvPr/>
        </p:nvSpPr>
        <p:spPr>
          <a:xfrm>
            <a:off x="4457700" y="29527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4638675" y="3067050"/>
            <a:ext cx="1428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5105400" y="2952750"/>
            <a:ext cx="65151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浏览课程专题网站</a:t>
            </a:r>
            <a:endParaRPr/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5105400" y="3276600"/>
            <a:ext cx="651510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wtbu.chende.top/project-ai/ ——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系统了解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大模型知识，下次课随堂提问。</a:t>
            </a:r>
            <a:endParaRPr/>
          </a:p>
        </p:txBody>
      </p:sp>
      <p:sp>
        <p:nvSpPr>
          <p:cNvPr id="210" name="矩形: 圆角 209"/>
          <p:cNvSpPr/>
          <p:nvPr/>
        </p:nvSpPr>
        <p:spPr>
          <a:xfrm>
            <a:off x="4267200" y="4371975"/>
            <a:ext cx="7543800" cy="1457325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矩形: 圆角 210"/>
          <p:cNvSpPr/>
          <p:nvPr/>
        </p:nvSpPr>
        <p:spPr>
          <a:xfrm>
            <a:off x="4457700" y="4562475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4638675" y="4676775"/>
            <a:ext cx="1428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5105400" y="4562475"/>
            <a:ext cx="65151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思考自己的项目选题</a:t>
            </a:r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5105400" y="4886325"/>
            <a:ext cx="651510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准备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1-2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个想做的系统方向（如校园二手书、失物招领、社团管理），下次课讨论。</a:t>
            </a:r>
            <a:endParaRPr/>
          </a:p>
        </p:txBody>
      </p:sp>
      <p:sp>
        <p:nvSpPr>
          <p:cNvPr id="215" name="矩形 21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0" y="6496050"/>
            <a:ext cx="2247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武汉工商学院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软件开发综合项目实训</a:t>
            </a:r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1677650" y="6477000"/>
            <a:ext cx="514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16 / 17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E3F8C', position: 'relative', overflow: 'hidden' }}&gt;&#10;  &lt;Box style={{ position: 'absolute', top: 0, left: 0, width: 1280, height: 6, background: '#FFC107' }} /&gt;&#10;  &lt;Box style={{ position: 'absolute', top: 80, right: 70, width: 300, height: 300, borderRadius: 300, border: '2px solid #3D7BD9', opacity: 0.25 }} /&gt;&#10;  &lt;Box style={{ position: 'absolute', bottom: 60, left: 60, width: 260, height: 260, borderRadius: 260, border: '2px solid #3D7BD9', opacity: 0.2 }} /&gt;&#10;&#10;  &lt;Box style={{ position: 'absolute', top: 200, left: 100, width: 1080, alignItems: 'center' }}&gt;&#10;    &lt;Text style={{ fontSize: 62, fontWeight: 'bold', color: '#FFFFFF', lineHeight: 1.45, textAlign: 'center' }}&gt;带着账号和环境来上课，&#10;下次课直接开工。&lt;/Text&gt;&#10;    &lt;Box style={{ width: 88, height: 6, background: '#FFC107', marginTop: 40 }} /&gt;&#10;    &lt;Text style={{ fontSize: 24, color: '#E8EFF8', marginTop: 40, textAlign: 'center', lineHeight: 1.7 }}&gt;Trae Code 已登录 · Gitee 已就绪 · 选题有想法&#10;——准备好这三样，我们就开始做真正的项目。&lt;/Text&gt;&#10;  &lt;/Box&gt;&#10;&#10;  &lt;Box style={{ position: 'absolute', bottom: 40, left: 0, width: 1280, flexDirection: 'row', justifyContent: 'center' }}&gt;&#10;    &lt;Text style={{ fontSize: 18, color: '#8B97A8' }}&gt;软件开发综合项目实训 · 第 1 讲 · 课程介绍与 AI 编程入门 · 陈 德 · 2026 年 9 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矩形 2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0" name="矩形 21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1" name="矩形: 圆角 220"/>
          <p:cNvSpPr/>
          <p:nvPr/>
        </p:nvSpPr>
        <p:spPr>
          <a:xfrm>
            <a:off x="8667750" y="762000"/>
            <a:ext cx="2857500" cy="2857500"/>
          </a:xfrm>
          <a:prstGeom prst="roundRect">
            <a:avLst>
              <a:gd name="adj" fmla="val 100000"/>
            </a:avLst>
          </a:prstGeom>
          <a:ln w="25400">
            <a:solidFill>
              <a:srgbClr val="3D7BD9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矩形: 圆角 221"/>
          <p:cNvSpPr/>
          <p:nvPr/>
        </p:nvSpPr>
        <p:spPr>
          <a:xfrm>
            <a:off x="571500" y="3810000"/>
            <a:ext cx="2476500" cy="2476500"/>
          </a:xfrm>
          <a:prstGeom prst="roundRect">
            <a:avLst>
              <a:gd name="adj" fmla="val 100000"/>
            </a:avLst>
          </a:prstGeom>
          <a:ln w="25400">
            <a:solidFill>
              <a:srgbClr val="3D7BD9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952500" y="1905000"/>
            <a:ext cx="10287000" cy="2057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45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带着账号和环境来上课，</a:t>
            </a:r>
            <a:r>
              <a:rPr lang="en-US" sz="46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下次课直接开工。</a:t>
            </a:r>
            <a:endParaRPr/>
          </a:p>
        </p:txBody>
      </p:sp>
      <p:sp>
        <p:nvSpPr>
          <p:cNvPr id="224" name="矩形 223"/>
          <p:cNvSpPr/>
          <p:nvPr/>
        </p:nvSpPr>
        <p:spPr>
          <a:xfrm>
            <a:off x="5676900" y="4343400"/>
            <a:ext cx="8382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1295400" y="4781550"/>
            <a:ext cx="9610725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70000"/>
              </a:lnSpc>
            </a:pP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Trae Code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已登录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· Gitee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已就绪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选题有想法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——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准备好这三样，我们就开始做真正的项目。</a:t>
            </a:r>
            <a:endParaRPr/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3076575" y="6267450"/>
            <a:ext cx="60388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软件开发综合项目实训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第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讲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课程介绍与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AI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编程入门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陈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德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· 2026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3034</Words>
  <Application>Microsoft Office PowerPoint</Application>
  <PresentationFormat>宽屏</PresentationFormat>
  <Paragraphs>216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chende</cp:lastModifiedBy>
  <cp:revision>8</cp:revision>
  <dcterms:created xsi:type="dcterms:W3CDTF">2026-09-05T22:57:35Z</dcterms:created>
  <dcterms:modified xsi:type="dcterms:W3CDTF">2026-09-07T01:16:36Z</dcterms:modified>
</cp:coreProperties>
</file>