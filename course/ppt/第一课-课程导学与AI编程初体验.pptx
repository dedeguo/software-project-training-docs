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a9adea2b134646" /><Relationship Type="http://schemas.openxmlformats.org/officeDocument/2006/relationships/extended-properties" Target="/docProps/app.xml" Id="R883a0baf51ac4ad1" /><Relationship Type="http://schemas.openxmlformats.org/officeDocument/2006/relationships/officeDocument" Target="/ppt/presentation.xml" Id="R4caf54e7726d40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43c4f681a84df1"/>
  </p:sldMasterIdLst>
  <p:notesMasterIdLst>
    <p:notesMasterId xmlns:r="http://schemas.openxmlformats.org/officeDocument/2006/relationships" r:id="R286bcec8218b42df"/>
  </p:notesMasterIdLst>
  <p:sldIdLst>
    <p:sldId xmlns:r="http://schemas.openxmlformats.org/officeDocument/2006/relationships" id="256" r:id="Re16270d776604d98"/>
    <p:sldId xmlns:r="http://schemas.openxmlformats.org/officeDocument/2006/relationships" id="257" r:id="Ra9116ff451804745"/>
    <p:sldId xmlns:r="http://schemas.openxmlformats.org/officeDocument/2006/relationships" id="258" r:id="R48dab953b5634c17"/>
    <p:sldId xmlns:r="http://schemas.openxmlformats.org/officeDocument/2006/relationships" id="259" r:id="Rc6540310783c49ed"/>
    <p:sldId xmlns:r="http://schemas.openxmlformats.org/officeDocument/2006/relationships" id="260" r:id="R6e83d7b773ac4f4b"/>
    <p:sldId xmlns:r="http://schemas.openxmlformats.org/officeDocument/2006/relationships" id="261" r:id="R0954c5d0d85a4dbc"/>
    <p:sldId xmlns:r="http://schemas.openxmlformats.org/officeDocument/2006/relationships" id="262" r:id="R4da9cd04b927436b"/>
    <p:sldId xmlns:r="http://schemas.openxmlformats.org/officeDocument/2006/relationships" id="263" r:id="Rf870e9ae85b34158"/>
    <p:sldId xmlns:r="http://schemas.openxmlformats.org/officeDocument/2006/relationships" id="264" r:id="R85ada0d5ce5547fb"/>
    <p:sldId xmlns:r="http://schemas.openxmlformats.org/officeDocument/2006/relationships" id="265" r:id="Rb7846efd693346e4"/>
    <p:sldId xmlns:r="http://schemas.openxmlformats.org/officeDocument/2006/relationships" id="266" r:id="Rf15c68f6aa684bcc"/>
    <p:sldId xmlns:r="http://schemas.openxmlformats.org/officeDocument/2006/relationships" id="267" r:id="Rc2308566a6954a67"/>
    <p:sldId xmlns:r="http://schemas.openxmlformats.org/officeDocument/2006/relationships" id="268" r:id="Rcd69d9077ddd49c1"/>
    <p:sldId xmlns:r="http://schemas.openxmlformats.org/officeDocument/2006/relationships" id="269" r:id="R9938be9bb4d744ef"/>
    <p:sldId xmlns:r="http://schemas.openxmlformats.org/officeDocument/2006/relationships" id="270" r:id="R92be14a0b28d482b"/>
    <p:sldId xmlns:r="http://schemas.openxmlformats.org/officeDocument/2006/relationships" id="271" r:id="R35796b1c87a04549"/>
    <p:sldId xmlns:r="http://schemas.openxmlformats.org/officeDocument/2006/relationships" id="272" r:id="R616cda77566540a4"/>
    <p:sldId xmlns:r="http://schemas.openxmlformats.org/officeDocument/2006/relationships" id="273" r:id="R6fc4d58310ea4f58"/>
    <p:sldId xmlns:r="http://schemas.openxmlformats.org/officeDocument/2006/relationships" id="274" r:id="R9a4c477e36ec46e7"/>
    <p:sldId xmlns:r="http://schemas.openxmlformats.org/officeDocument/2006/relationships" id="275" r:id="R6fab69e4eb5f422f"/>
    <p:sldId xmlns:r="http://schemas.openxmlformats.org/officeDocument/2006/relationships" id="276" r:id="R392cc17dddb94222"/>
    <p:sldId xmlns:r="http://schemas.openxmlformats.org/officeDocument/2006/relationships" id="277" r:id="R564ea3610a474b6f"/>
    <p:sldId xmlns:r="http://schemas.openxmlformats.org/officeDocument/2006/relationships" id="278" r:id="Rbb1225fe5d1945d8"/>
    <p:sldId xmlns:r="http://schemas.openxmlformats.org/officeDocument/2006/relationships" id="279" r:id="R4fe5117011fe44ab"/>
    <p:sldId xmlns:r="http://schemas.openxmlformats.org/officeDocument/2006/relationships" id="280" r:id="R1e7298b0fba74a28"/>
    <p:sldId xmlns:r="http://schemas.openxmlformats.org/officeDocument/2006/relationships" id="281" r:id="R4a52fb1cb7814a16"/>
    <p:sldId xmlns:r="http://schemas.openxmlformats.org/officeDocument/2006/relationships" id="282" r:id="Re22d13df302040e1"/>
    <p:sldId xmlns:r="http://schemas.openxmlformats.org/officeDocument/2006/relationships" id="283" r:id="R7330d8f52b25405b"/>
    <p:sldId xmlns:r="http://schemas.openxmlformats.org/officeDocument/2006/relationships" id="284" r:id="R63b6942399fd4c93"/>
    <p:sldId xmlns:r="http://schemas.openxmlformats.org/officeDocument/2006/relationships" id="285" r:id="Rae2a3dfe777f4d04"/>
    <p:sldId xmlns:r="http://schemas.openxmlformats.org/officeDocument/2006/relationships" id="286" r:id="R5f8acebd704147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55f1230240470d" /><Relationship Type="http://schemas.openxmlformats.org/officeDocument/2006/relationships/slideMaster" Target="/ppt/slideMasters/slideMaster1.xml" Id="R2143c4f681a84df1" /><Relationship Type="http://schemas.openxmlformats.org/officeDocument/2006/relationships/notesMaster" Target="/ppt/notesMasters/notesMaster1.xml" Id="R286bcec8218b42df" /><Relationship Type="http://schemas.openxmlformats.org/officeDocument/2006/relationships/presProps" Target="/ppt/presProps.xml" Id="Ra4b9041880ef42ac" /><Relationship Type="http://schemas.openxmlformats.org/officeDocument/2006/relationships/tableStyles" Target="/ppt/tableStyles.xml" Id="Rd688cfd1ef234a05" /><Relationship Type="http://schemas.openxmlformats.org/officeDocument/2006/relationships/slide" Target="/ppt/slides/slide1.xml" Id="Re16270d776604d98" /><Relationship Type="http://schemas.openxmlformats.org/officeDocument/2006/relationships/slide" Target="/ppt/slides/slide2.xml" Id="Ra9116ff451804745" /><Relationship Type="http://schemas.openxmlformats.org/officeDocument/2006/relationships/slide" Target="/ppt/slides/slide3.xml" Id="R48dab953b5634c17" /><Relationship Type="http://schemas.openxmlformats.org/officeDocument/2006/relationships/slide" Target="/ppt/slides/slide4.xml" Id="Rc6540310783c49ed" /><Relationship Type="http://schemas.openxmlformats.org/officeDocument/2006/relationships/slide" Target="/ppt/slides/slide5.xml" Id="R6e83d7b773ac4f4b" /><Relationship Type="http://schemas.openxmlformats.org/officeDocument/2006/relationships/slide" Target="/ppt/slides/slide6.xml" Id="R0954c5d0d85a4dbc" /><Relationship Type="http://schemas.openxmlformats.org/officeDocument/2006/relationships/slide" Target="/ppt/slides/slide7.xml" Id="R4da9cd04b927436b" /><Relationship Type="http://schemas.openxmlformats.org/officeDocument/2006/relationships/slide" Target="/ppt/slides/slide8.xml" Id="Rf870e9ae85b34158" /><Relationship Type="http://schemas.openxmlformats.org/officeDocument/2006/relationships/slide" Target="/ppt/slides/slide9.xml" Id="R85ada0d5ce5547fb" /><Relationship Type="http://schemas.openxmlformats.org/officeDocument/2006/relationships/slide" Target="/ppt/slides/slide10.xml" Id="Rb7846efd693346e4" /><Relationship Type="http://schemas.openxmlformats.org/officeDocument/2006/relationships/slide" Target="/ppt/slides/slide11.xml" Id="Rf15c68f6aa684bcc" /><Relationship Type="http://schemas.openxmlformats.org/officeDocument/2006/relationships/slide" Target="/ppt/slides/slide12.xml" Id="Rc2308566a6954a67" /><Relationship Type="http://schemas.openxmlformats.org/officeDocument/2006/relationships/slide" Target="/ppt/slides/slide13.xml" Id="Rcd69d9077ddd49c1" /><Relationship Type="http://schemas.openxmlformats.org/officeDocument/2006/relationships/slide" Target="/ppt/slides/slide14.xml" Id="R9938be9bb4d744ef" /><Relationship Type="http://schemas.openxmlformats.org/officeDocument/2006/relationships/slide" Target="/ppt/slides/slide15.xml" Id="R92be14a0b28d482b" /><Relationship Type="http://schemas.openxmlformats.org/officeDocument/2006/relationships/slide" Target="/ppt/slides/slide16.xml" Id="R35796b1c87a04549" /><Relationship Type="http://schemas.openxmlformats.org/officeDocument/2006/relationships/slide" Target="/ppt/slides/slide17.xml" Id="R616cda77566540a4" /><Relationship Type="http://schemas.openxmlformats.org/officeDocument/2006/relationships/slide" Target="/ppt/slides/slide18.xml" Id="R6fc4d58310ea4f58" /><Relationship Type="http://schemas.openxmlformats.org/officeDocument/2006/relationships/slide" Target="/ppt/slides/slide19.xml" Id="R9a4c477e36ec46e7" /><Relationship Type="http://schemas.openxmlformats.org/officeDocument/2006/relationships/slide" Target="/ppt/slides/slide20.xml" Id="R6fab69e4eb5f422f" /><Relationship Type="http://schemas.openxmlformats.org/officeDocument/2006/relationships/slide" Target="/ppt/slides/slide21.xml" Id="R392cc17dddb94222" /><Relationship Type="http://schemas.openxmlformats.org/officeDocument/2006/relationships/slide" Target="/ppt/slides/slide22.xml" Id="R564ea3610a474b6f" /><Relationship Type="http://schemas.openxmlformats.org/officeDocument/2006/relationships/slide" Target="/ppt/slides/slide23.xml" Id="Rbb1225fe5d1945d8" /><Relationship Type="http://schemas.openxmlformats.org/officeDocument/2006/relationships/slide" Target="/ppt/slides/slide24.xml" Id="R4fe5117011fe44ab" /><Relationship Type="http://schemas.openxmlformats.org/officeDocument/2006/relationships/slide" Target="/ppt/slides/slide25.xml" Id="R1e7298b0fba74a28" /><Relationship Type="http://schemas.openxmlformats.org/officeDocument/2006/relationships/slide" Target="/ppt/slides/slide26.xml" Id="R4a52fb1cb7814a16" /><Relationship Type="http://schemas.openxmlformats.org/officeDocument/2006/relationships/slide" Target="/ppt/slides/slide27.xml" Id="Re22d13df302040e1" /><Relationship Type="http://schemas.openxmlformats.org/officeDocument/2006/relationships/slide" Target="/ppt/slides/slide28.xml" Id="R7330d8f52b25405b" /><Relationship Type="http://schemas.openxmlformats.org/officeDocument/2006/relationships/slide" Target="/ppt/slides/slide29.xml" Id="R63b6942399fd4c93" /><Relationship Type="http://schemas.openxmlformats.org/officeDocument/2006/relationships/slide" Target="/ppt/slides/slide30.xml" Id="Rae2a3dfe777f4d04" /><Relationship Type="http://schemas.openxmlformats.org/officeDocument/2006/relationships/slide" Target="/ppt/slides/slide31.xml" Id="R5f8acebd704147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e319a83bd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c6de7bdb234e09" /><Relationship Type="http://schemas.openxmlformats.org/officeDocument/2006/relationships/notesMaster" Target="/ppt/notesMasters/notesMaster1.xml" Id="Rbcc2a6bbca7e4f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a08ae5885d4caf" /><Relationship Type="http://schemas.openxmlformats.org/officeDocument/2006/relationships/notesMaster" Target="/ppt/notesMasters/notesMaster1.xml" Id="Re58b8229996840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69a3d4f0ff4c3e" /><Relationship Type="http://schemas.openxmlformats.org/officeDocument/2006/relationships/notesMaster" Target="/ppt/notesMasters/notesMaster1.xml" Id="R0639bc6abd7a46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56d2a417d748ed" /><Relationship Type="http://schemas.openxmlformats.org/officeDocument/2006/relationships/notesMaster" Target="/ppt/notesMasters/notesMaster1.xml" Id="R849853d441df48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15f9f2f5354cf4" /><Relationship Type="http://schemas.openxmlformats.org/officeDocument/2006/relationships/notesMaster" Target="/ppt/notesMasters/notesMaster1.xml" Id="R82e17f9f8e574b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c02ee9b164944" /><Relationship Type="http://schemas.openxmlformats.org/officeDocument/2006/relationships/notesMaster" Target="/ppt/notesMasters/notesMaster1.xml" Id="Rc8336d329199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8431f35c6b41cc" /><Relationship Type="http://schemas.openxmlformats.org/officeDocument/2006/relationships/notesMaster" Target="/ppt/notesMasters/notesMaster1.xml" Id="R6f68502b72af4c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8d510d7194170" /><Relationship Type="http://schemas.openxmlformats.org/officeDocument/2006/relationships/notesMaster" Target="/ppt/notesMasters/notesMaster1.xml" Id="Rff93502e370249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d73179a2b04892" /><Relationship Type="http://schemas.openxmlformats.org/officeDocument/2006/relationships/notesMaster" Target="/ppt/notesMasters/notesMaster1.xml" Id="R911c9aefd08645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7c0a0527dd47ae" /><Relationship Type="http://schemas.openxmlformats.org/officeDocument/2006/relationships/notesMaster" Target="/ppt/notesMasters/notesMaster1.xml" Id="R5df5d0c9b16d47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d8ffe18240fe" /><Relationship Type="http://schemas.openxmlformats.org/officeDocument/2006/relationships/notesMaster" Target="/ppt/notesMasters/notesMaster1.xml" Id="R42500db52eb34f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a225a6ab014da6" /><Relationship Type="http://schemas.openxmlformats.org/officeDocument/2006/relationships/notesMaster" Target="/ppt/notesMasters/notesMaster1.xml" Id="R1b2f0df8df5144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8d83206206452f" /><Relationship Type="http://schemas.openxmlformats.org/officeDocument/2006/relationships/notesMaster" Target="/ppt/notesMasters/notesMaster1.xml" Id="R6e724f48269047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a23d75f02647d3" /><Relationship Type="http://schemas.openxmlformats.org/officeDocument/2006/relationships/notesMaster" Target="/ppt/notesMasters/notesMaster1.xml" Id="R7a1c531f82e748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bb83d333354891" /><Relationship Type="http://schemas.openxmlformats.org/officeDocument/2006/relationships/notesMaster" Target="/ppt/notesMasters/notesMaster1.xml" Id="R098ab5b8a25d44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5d2bb142594e84" /><Relationship Type="http://schemas.openxmlformats.org/officeDocument/2006/relationships/notesMaster" Target="/ppt/notesMasters/notesMaster1.xml" Id="R487a939d35924e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29ceb2726342ed" /><Relationship Type="http://schemas.openxmlformats.org/officeDocument/2006/relationships/notesMaster" Target="/ppt/notesMasters/notesMaster1.xml" Id="R5c42fc9dda6f4a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1fde770cb04064" /><Relationship Type="http://schemas.openxmlformats.org/officeDocument/2006/relationships/notesMaster" Target="/ppt/notesMasters/notesMaster1.xml" Id="Rd160c5a38b5142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b6fa2ac8214cd1" /><Relationship Type="http://schemas.openxmlformats.org/officeDocument/2006/relationships/notesMaster" Target="/ppt/notesMasters/notesMaster1.xml" Id="R249ef87038de41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40bc22b617424a" /><Relationship Type="http://schemas.openxmlformats.org/officeDocument/2006/relationships/notesMaster" Target="/ppt/notesMasters/notesMaster1.xml" Id="Rbe5839a85de040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a909e5f5304b35" /><Relationship Type="http://schemas.openxmlformats.org/officeDocument/2006/relationships/notesMaster" Target="/ppt/notesMasters/notesMaster1.xml" Id="R02e48d18a2dd4b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b6acaaa46445fb" /><Relationship Type="http://schemas.openxmlformats.org/officeDocument/2006/relationships/notesMaster" Target="/ppt/notesMasters/notesMaster1.xml" Id="R036d88a2f2e443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bad7b07522412e" /><Relationship Type="http://schemas.openxmlformats.org/officeDocument/2006/relationships/notesMaster" Target="/ppt/notesMasters/notesMaster1.xml" Id="R0f04b29934124a6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045ee42e8944589" /><Relationship Type="http://schemas.openxmlformats.org/officeDocument/2006/relationships/notesMaster" Target="/ppt/notesMasters/notesMaster1.xml" Id="R13cd40da7d11439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49b1b74569427f" /><Relationship Type="http://schemas.openxmlformats.org/officeDocument/2006/relationships/notesMaster" Target="/ppt/notesMasters/notesMaster1.xml" Id="R833350d806584e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24f5f1139834177" /><Relationship Type="http://schemas.openxmlformats.org/officeDocument/2006/relationships/notesMaster" Target="/ppt/notesMasters/notesMaster1.xml" Id="Rcb90a203f0634d8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191874a978340d4" /><Relationship Type="http://schemas.openxmlformats.org/officeDocument/2006/relationships/notesMaster" Target="/ppt/notesMasters/notesMaster1.xml" Id="R14bc904f8c88417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9e5e2d03fb49e7" /><Relationship Type="http://schemas.openxmlformats.org/officeDocument/2006/relationships/notesMaster" Target="/ppt/notesMasters/notesMaster1.xml" Id="R93ea99d716ee48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35b3ccbbc4842e7" /><Relationship Type="http://schemas.openxmlformats.org/officeDocument/2006/relationships/notesMaster" Target="/ppt/notesMasters/notesMaster1.xml" Id="Rb0ab8c86773447a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b071f9dc0b44f2b" /><Relationship Type="http://schemas.openxmlformats.org/officeDocument/2006/relationships/notesMaster" Target="/ppt/notesMasters/notesMaster1.xml" Id="R2822768423594f5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7ce4ecb71ee4d0b" /><Relationship Type="http://schemas.openxmlformats.org/officeDocument/2006/relationships/notesMaster" Target="/ppt/notesMasters/notesMaster1.xml" Id="R49fc76182b7744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/Users/chende/Documents/Codes/A-software-project-training-docs/software-project-training-docs/docs/assets/imgs/intro/admin-index.png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/Users/chende/Documents/Codes/A-software-project-training-docs/software-project-training-docs/docs/assets/imgs/intro/index-user.png</a:t>
            </a:r>
          </a:p>
          <a:p xmlns:a="http://schemas.openxmlformats.org/drawingml/2006/main">
            <a:r>
              <a:t>- /Users/chende/Documents/Codes/A-software-project-training-docs/software-project-training-docs/docs/assets/imgs/intro/admin-index.png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/Users/chende/Documents/Codes/A-software-project-training-docs/software-project-training-docs/docs/assets/imgs/ai-tools/trae_preview2.png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/Users/chende/Documents/Codes/A-software-project-training-docs/software-project-training-docs/docs/assets/imgs/intro/login.png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课程大纲（用户提供）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c1249db0845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df587a42a140da" /><Relationship Type="http://schemas.openxmlformats.org/officeDocument/2006/relationships/slideLayout" Target="/ppt/slideLayouts/slideLayout1.xml" Id="Rb831112342dd4e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31112342dd4e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1979118204068" /><Relationship Type="http://schemas.openxmlformats.org/officeDocument/2006/relationships/image" Target="/ppt/media/image.png" Id="R3e039b9496584830" /><Relationship Type="http://schemas.openxmlformats.org/officeDocument/2006/relationships/notesSlide" Target="/ppt/notesSlides/notesSlide1.xml" Id="R0bdcdfc7002d44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e6ffd491c4bbb" /><Relationship Type="http://schemas.openxmlformats.org/officeDocument/2006/relationships/notesSlide" Target="/ppt/notesSlides/notesSlide2.xml" Id="R8130412cecd644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19efb5a6c4064" /><Relationship Type="http://schemas.openxmlformats.org/officeDocument/2006/relationships/notesSlide" Target="/ppt/notesSlides/notesSlide3.xml" Id="R52c5bfb4395848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578bdb8084437" /><Relationship Type="http://schemas.openxmlformats.org/officeDocument/2006/relationships/notesSlide" Target="/ppt/notesSlides/notesSlide4.xml" Id="R3953b78756674b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c15ee3b40471b" /><Relationship Type="http://schemas.openxmlformats.org/officeDocument/2006/relationships/notesSlide" Target="/ppt/notesSlides/notesSlide5.xml" Id="R60670cf75dfb45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7db2ef7a44d1d" /><Relationship Type="http://schemas.openxmlformats.org/officeDocument/2006/relationships/notesSlide" Target="/ppt/notesSlides/notesSlide6.xml" Id="Rd510519f12c246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923c7a60b4155" /><Relationship Type="http://schemas.openxmlformats.org/officeDocument/2006/relationships/notesSlide" Target="/ppt/notesSlides/notesSlide7.xml" Id="Rf70c4f45727b4c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3c4b94dc540aa" /><Relationship Type="http://schemas.openxmlformats.org/officeDocument/2006/relationships/notesSlide" Target="/ppt/notesSlides/notesSlide8.xml" Id="R403ee3d7acfa48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9d0b9eb4f4ea1" /><Relationship Type="http://schemas.openxmlformats.org/officeDocument/2006/relationships/notesSlide" Target="/ppt/notesSlides/notesSlide9.xml" Id="Re28d819218fc43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2f134b9504e4c" /><Relationship Type="http://schemas.openxmlformats.org/officeDocument/2006/relationships/notesSlide" Target="/ppt/notesSlides/notesSlide10.xml" Id="Rcc69e236719247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cd5324dc847b0" /><Relationship Type="http://schemas.openxmlformats.org/officeDocument/2006/relationships/image" Target="/ppt/media/image2.png" Id="R621da532e8eb47b9" /><Relationship Type="http://schemas.openxmlformats.org/officeDocument/2006/relationships/image" Target="/ppt/media/image3.png" Id="R54206a7df3844b38" /><Relationship Type="http://schemas.openxmlformats.org/officeDocument/2006/relationships/notesSlide" Target="/ppt/notesSlides/notesSlide11.xml" Id="R546d5b9cf6c24d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ce06e045448cc" /><Relationship Type="http://schemas.openxmlformats.org/officeDocument/2006/relationships/notesSlide" Target="/ppt/notesSlides/notesSlide12.xml" Id="R0eae2d6f44b64a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da4a7a4104962" /><Relationship Type="http://schemas.openxmlformats.org/officeDocument/2006/relationships/notesSlide" Target="/ppt/notesSlides/notesSlide13.xml" Id="R5ba7c1ddbb0041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7d63122cd4b44" /><Relationship Type="http://schemas.openxmlformats.org/officeDocument/2006/relationships/notesSlide" Target="/ppt/notesSlides/notesSlide14.xml" Id="R3e0b3edba2a64c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66aec3d56469f" /><Relationship Type="http://schemas.openxmlformats.org/officeDocument/2006/relationships/chart" Target="/ppt/slides/charts/chart1.xml" Id="R6ae00eefcbd24b3b" /><Relationship Type="http://schemas.openxmlformats.org/officeDocument/2006/relationships/notesSlide" Target="/ppt/notesSlides/notesSlide15.xml" Id="Rd948bd4b7e6641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e8442445a4871" /><Relationship Type="http://schemas.openxmlformats.org/officeDocument/2006/relationships/notesSlide" Target="/ppt/notesSlides/notesSlide16.xml" Id="R3c9e688120764d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98daf28f143c8" /><Relationship Type="http://schemas.openxmlformats.org/officeDocument/2006/relationships/notesSlide" Target="/ppt/notesSlides/notesSlide17.xml" Id="R42ac2e739cb04c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cc81bc0df4784" /><Relationship Type="http://schemas.openxmlformats.org/officeDocument/2006/relationships/notesSlide" Target="/ppt/notesSlides/notesSlide18.xml" Id="Rac65c03a546049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fa68e77e84126" /><Relationship Type="http://schemas.openxmlformats.org/officeDocument/2006/relationships/image" Target="/ppt/media/image4.png" Id="Re6fcc348a6c646a9" /><Relationship Type="http://schemas.openxmlformats.org/officeDocument/2006/relationships/notesSlide" Target="/ppt/notesSlides/notesSlide19.xml" Id="R3c96dca662fb46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f8743d3de4958" /><Relationship Type="http://schemas.openxmlformats.org/officeDocument/2006/relationships/notesSlide" Target="/ppt/notesSlides/notesSlide20.xml" Id="Rff400d3dad2d48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58d348fc543d8" /><Relationship Type="http://schemas.openxmlformats.org/officeDocument/2006/relationships/notesSlide" Target="/ppt/notesSlides/notesSlide21.xml" Id="R711cf7f9049f499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b908153354eec" /><Relationship Type="http://schemas.openxmlformats.org/officeDocument/2006/relationships/image" Target="/ppt/media/image5.png" Id="R90a470bd25e54a51" /><Relationship Type="http://schemas.openxmlformats.org/officeDocument/2006/relationships/notesSlide" Target="/ppt/notesSlides/notesSlide22.xml" Id="R834831d252734d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8df57d9d44707" /><Relationship Type="http://schemas.openxmlformats.org/officeDocument/2006/relationships/notesSlide" Target="/ppt/notesSlides/notesSlide23.xml" Id="R40c2b86ea1d747e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24ee2e0064a6d" /><Relationship Type="http://schemas.openxmlformats.org/officeDocument/2006/relationships/notesSlide" Target="/ppt/notesSlides/notesSlide24.xml" Id="R960e01dd466c4d4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aadaadffa4b97" /><Relationship Type="http://schemas.openxmlformats.org/officeDocument/2006/relationships/notesSlide" Target="/ppt/notesSlides/notesSlide25.xml" Id="R11057ec02bd04ee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0775054fc4900" /><Relationship Type="http://schemas.openxmlformats.org/officeDocument/2006/relationships/notesSlide" Target="/ppt/notesSlides/notesSlide26.xml" Id="R7fbf7496d2614f7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f597c000d450c" /><Relationship Type="http://schemas.openxmlformats.org/officeDocument/2006/relationships/notesSlide" Target="/ppt/notesSlides/notesSlide27.xml" Id="R16e476016b7f402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a6c9ee00b4df0" /><Relationship Type="http://schemas.openxmlformats.org/officeDocument/2006/relationships/notesSlide" Target="/ppt/notesSlides/notesSlide28.xml" Id="R6470006705ce484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cc09f6f8e43e4" /><Relationship Type="http://schemas.openxmlformats.org/officeDocument/2006/relationships/notesSlide" Target="/ppt/notesSlides/notesSlide29.xml" Id="Rff1cefe468214f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d67445c874183" /><Relationship Type="http://schemas.openxmlformats.org/officeDocument/2006/relationships/notesSlide" Target="/ppt/notesSlides/notesSlide30.xml" Id="Rf6a37b73e1ef4db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d9e652ef64b1a" /><Relationship Type="http://schemas.openxmlformats.org/officeDocument/2006/relationships/notesSlide" Target="/ppt/notesSlides/notesSlide31.xml" Id="Raee04bc93955490b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比例</c:v>
          </c:tx>
          <c:cat>
            <c:strLit>
              <c:ptCount val="6"/>
              <c:pt idx="0">
                <c:v>阶段任务</c:v>
              </c:pt>
              <c:pt idx="1">
                <c:v>文档</c:v>
              </c:pt>
              <c:pt idx="2">
                <c:v>功能闭环</c:v>
              </c:pt>
              <c:pt idx="3">
                <c:v>AI协作</c:v>
              </c:pt>
              <c:pt idx="4">
                <c:v>部署答辩</c:v>
              </c:pt>
              <c:pt idx="5">
                <c:v>团队贡献</c:v>
              </c:pt>
            </c:strLit>
          </c:cat>
          <c:val>
            <c:numLit>
              <c:formatCode>General</c:formatCode>
              <c:ptCount val="6"/>
              <c:pt idx="0">
                <c:v>30</c:v>
              </c:pt>
              <c:pt idx="1">
                <c:v>15</c:v>
              </c:pt>
              <c:pt idx="2">
                <c:v>20</c:v>
              </c:pt>
              <c:pt idx="3">
                <c:v>15</c:v>
              </c:pt>
              <c:pt idx="4">
                <c:v>15</c:v>
              </c:pt>
              <c:pt idx="5">
                <c:v>5</c:v>
              </c:pt>
            </c:numLit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holeSize val="55"/>
      </c:doughnutChart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39b9496584830"/>
          <a:srcRect xmlns:a="http://schemas.openxmlformats.org/drawingml/2006/main" l="29225" t="0" r="292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oundRect">
            <a:avLst>
              <a:gd name="adj" fmla="val 203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28184-537A-4AD0-AD8D-7C50043C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D2A69-9275-49E7-9238-7F84A38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C7F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4C7F3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38639-2258-462A-8A58-C07CCDE1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辅助的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软件项目开发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94F29-FD79-40DE-B464-13920503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 AI 完成一件属于你自己的软件作品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23474-F336-47F4-BC96-D91E840B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1C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9C1CC"/>
                </a:solidFill>
                <a:latin typeface="PingFang SC"/>
                <a:ea typeface="PingFang SC"/>
                <a:cs typeface="PingFang SC"/>
              </a:rPr>
              <a:t>64 学时 · 16 周 × 4 学时</a:t>
            </a:r>
          </a:p>
        </p:txBody>
      </p:sp>
    </p:spTree>
    <p:extLst>
      <p:ext uri="{BB962C8B-B14F-4D97-AF65-F5344CB8AC3E}">
        <p14:creationId xmlns:p14="http://schemas.microsoft.com/office/powerpoint/2010/main" val="17618726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2CFF3-E8F0-4A30-839A-3C0EF3E0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5F3BE-380D-4F2C-ABF3-808976AE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这不是一门“只听懂”的课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B527F-5BA2-40BE-BEA1-33CA8F5D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E8387-B688-4875-9ED6-EA59A9FA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传统课堂：照着步骤复现一个示例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本课程：自己定义问题，交付完整作品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AI 加速实现，但方向、判断和质量仍由你负责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A8216-50BD-4247-A0DA-31EF8AEC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552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537AE-6312-4AFD-A718-9F45868B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做菜的区别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A30D4-843E-4FDD-B0ED-00148B9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照着菜谱炒一盘，练的是动作；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自己做一道拿手菜，练的是完整能力。 </a:t>
            </a:r>
          </a:p>
        </p:txBody>
      </p:sp>
    </p:spTree>
    <p:extLst>
      <p:ext uri="{BB962C8B-B14F-4D97-AF65-F5344CB8AC3E}">
        <p14:creationId xmlns:p14="http://schemas.microsoft.com/office/powerpoint/2010/main" val="8637912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3CC4B-245D-48D0-A107-49FAF2D7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6FD08-D5D1-4188-A9E6-950E1A92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企业更需要会驾驭 AI 的开发者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FBE15-F6B7-432B-B9C7-A5D46C9F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92E2D-DEC1-4510-AD71-107C707F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综合运用 Java Web、数据库、前端和软件工程知识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能把模糊需求拆成可验证的开发任务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能审查、调试并解释 AI 生成的代码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080EA-920C-4609-84D0-C3C12BCB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552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4F65B-CFCE-4122-A8FC-28AE4D16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核心能力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F05B-5228-4B78-8ACB-900EA650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不是“复制 AI 代码”，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而是驾驭 AI 完成软件项目。 </a:t>
            </a:r>
          </a:p>
        </p:txBody>
      </p:sp>
    </p:spTree>
    <p:extLst>
      <p:ext uri="{BB962C8B-B14F-4D97-AF65-F5344CB8AC3E}">
        <p14:creationId xmlns:p14="http://schemas.microsoft.com/office/powerpoint/2010/main" val="14877565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C099C-D193-4F6B-89BB-AABE4F8C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DD31E-1452-4605-B24E-21A3B108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一条主线，贯穿六个阶段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5EEB6-E96B-485B-A23E-C43D7CDF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57E35-067A-4A12-9179-F6EB6B2F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选一个愿意做的项目 → 每节课完成一个小任务 → 每周看到项目进展 → 最终交付完整作品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44E45-E70D-4969-9C43-7380F606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0F4A5-3D73-4C7F-A3C1-CEA42E7B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8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F30AE-18B7-4341-A51F-CEBE0BE0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0450D-8F79-410E-A934-69301A7A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52775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26E2E-C8F0-4617-85EB-708A1F40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813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E7028-B150-40B4-85AF-A39D0695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099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6E052-5873-4EB7-A27E-64C1600D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52775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F99CE-EEF1-468E-980D-513BC5F7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8195E-EC7B-4FB2-846A-E0B0A5B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099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65799-F2F5-460E-A54D-FCD7350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52775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F6966-8A1B-4E01-88DB-1E983FAF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5454C-1755-4B17-B942-922E60F1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19CD9-2A67-4FFC-B05D-A03A223F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52775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80BD7-7117-4A8C-9938-0047924F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F9C03-15D1-448A-A060-EE5ECFF6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99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测试部署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9308BB-2FA8-4AF5-B62F-EFB28167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58453-5B63-4339-8412-B9242FEA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099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答辩展示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1C9E9-98FE-4D97-96BA-C679EA6B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三篇递进：AI 协同开发实战 ｜ 项目选题与需求分析 ｜ 原型与系统设计</a:t>
            </a:r>
          </a:p>
        </p:txBody>
      </p:sp>
    </p:spTree>
    <p:extLst>
      <p:ext uri="{BB962C8B-B14F-4D97-AF65-F5344CB8AC3E}">
        <p14:creationId xmlns:p14="http://schemas.microsoft.com/office/powerpoint/2010/main" val="12953250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DF50A-042D-4E51-A052-750E2FB1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48BD0-8068-4DB3-BC47-33FDB36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学期结束，你将带走四类成果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E487D-C74E-452C-9AFB-6B23CDA0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C5D3B-7999-42A9-B358-CE4D0E42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ED291-13C3-4C19-A1D9-9CB184E1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可运行作品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A4DC8-C0BD-425F-ADC3-7F614FA3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可部署、可演示，拥有完整业务闭环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1BFCE-B5D8-4307-96C8-1267C92C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095500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DEE65-AD70-4B2F-A8DD-06A8B04D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362200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协作方法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8BD3D-CAF7-4146-96E8-4FE52DA1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962275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先读文档、再拆任务、边做边验证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85E95-9D0D-464A-A0C7-E85AB76F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95500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832D4-88F5-417E-9D21-1F46A315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62200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过程文档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CA28A-CD41-45DE-8DC6-4AC6ABBA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62275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立项、需求、设计、测试材料彼此一致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94710-C594-45C3-B763-73578FC8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95500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7D1E1-6BF9-433B-A3EA-BBD547EC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362200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发展资产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C461B-F4CD-4FB3-BDE4-A7BD31D9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962275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毕业设计、竞赛和求职项目经历</a:t>
            </a:r>
          </a:p>
        </p:txBody>
      </p:sp>
    </p:spTree>
    <p:extLst>
      <p:ext uri="{BB962C8B-B14F-4D97-AF65-F5344CB8AC3E}">
        <p14:creationId xmlns:p14="http://schemas.microsoft.com/office/powerpoint/2010/main" val="20281597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5A382-AE93-4600-90D7-D179E617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AE08E-4330-405E-A9A1-7373A763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第一课：先看全貌，再跑通第一次体验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E73CD-B938-4B00-9278-56F74A40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8A640-4960-4BE1-A5A9-64E09707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68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44A69-555E-4AC6-A71A-51D65444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认识课程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2061E-3595-41C3-8037-776FE05F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33725"/>
            <a:ext cx="330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理解目标、内容、考核与学习节奏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F7C9C-E79F-4A61-993C-95D4CC4F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266950"/>
            <a:ext cx="368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D9FC1-BFE2-47DF-A191-B3052A14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533650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上手 Trae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B5BBF-942A-401E-97C6-561C8C21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133725"/>
            <a:ext cx="330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完成安装、登录和环境检查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E5D3A-2A34-44E5-9D98-761AE822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266950"/>
            <a:ext cx="368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4E9F9-7496-4A87-9E58-DA4188EB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533650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跑通项目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90156-BCEF-4CCC-9039-7932D31B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133725"/>
            <a:ext cx="330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启动图书管理系统，验证一条业务流程</a:t>
            </a:r>
          </a:p>
        </p:txBody>
      </p:sp>
    </p:spTree>
    <p:extLst>
      <p:ext uri="{BB962C8B-B14F-4D97-AF65-F5344CB8AC3E}">
        <p14:creationId xmlns:p14="http://schemas.microsoft.com/office/powerpoint/2010/main" val="12834024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CE3DF-267D-4EC8-B567-5C00B9F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D827C-50B3-4C3A-A2EA-12D29C0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三类目标，最终汇聚成一件作品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FB2E9-41F7-4208-AEEC-8D3D3A4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10C75-E2C1-47A6-B6D8-D9826F8E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81125"/>
            <a:ext cx="4286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66DBB-974F-404C-B184-F5E3A4FC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906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项目实践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5EA93-AE5A-4AD1-8DF3-DA818350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669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完整经历开发流程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3752B-DA5D-49F5-8F13-5450226E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286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71492-5324-4956-BDEE-C3EB0DA5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67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知识储备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A9C93-0652-48B3-A054-A3EE9A93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434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掌握需求、设计与工程方法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84421-92A5-40A0-AD7E-ACF05307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286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82C4F-5154-4274-A44B-83C087C7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67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职业发展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5CAB1-633E-4B46-9C03-D9B72F03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34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形成可迁移的工程素养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05CB9-3F3C-498C-A8BB-67A071B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886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68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4A0A4-C024-4F1A-8927-41DAE19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能运行 · 能讲清 · 能展示</a:t>
            </a:r>
          </a:p>
        </p:txBody>
      </p:sp>
    </p:spTree>
    <p:extLst>
      <p:ext uri="{BB962C8B-B14F-4D97-AF65-F5344CB8AC3E}">
        <p14:creationId xmlns:p14="http://schemas.microsoft.com/office/powerpoint/2010/main" val="16092318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56323-FC1E-495E-B0FC-389405BC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3C0A8-23E7-4FF9-8F9C-07593F6A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项目实践目标：走完整条开发链路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1FF94-AAEF-4E65-860D-82417527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C29EF-E2AB-4F76-B285-FD498F0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原则上个人独立完成；组队不超过 3 人且需审核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经历选题、需求、设计、编码、测试、部署和答辩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标准：能运行、闭环完整、能解释代码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E0432-0DB8-415B-AE66-6C383B89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552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B8696-52A7-4A6C-A040-6AFD0901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验收问题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A1033-ABE4-4518-AECF-085E6EDE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它能运行吗？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流程完整吗？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你能说明为什么这样做吗？</a:t>
            </a:r>
          </a:p>
        </p:txBody>
      </p:sp>
    </p:spTree>
    <p:extLst>
      <p:ext uri="{BB962C8B-B14F-4D97-AF65-F5344CB8AC3E}">
        <p14:creationId xmlns:p14="http://schemas.microsoft.com/office/powerpoint/2010/main" val="10634013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A7C4C-86BC-4ADC-88B6-85C9157E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C88CE-F399-4FDF-BB9C-9A63BDAB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知识与职业能力，要能迁移到下一次项目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58196-092A-4A29-9ED4-E987787D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1A371-4E01-41A1-BC2F-E3657E5F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需求分析与系统设计：为毕业设计打基础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AI 协作：审查、调试、验证生成内容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工程素养：Git、接口测试、部署交付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FA432-CF2A-476C-8C79-8208233E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552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23095-D14C-4B93-AC4A-C546780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你的角色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0CD94-1E9F-4E8C-B464-18930AB2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提出任务的人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做出判断的人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对结果负责的人</a:t>
            </a:r>
          </a:p>
        </p:txBody>
      </p:sp>
    </p:spTree>
    <p:extLst>
      <p:ext uri="{BB962C8B-B14F-4D97-AF65-F5344CB8AC3E}">
        <p14:creationId xmlns:p14="http://schemas.microsoft.com/office/powerpoint/2010/main" val="16643919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6F2DC-6183-4186-A4B4-1FD86884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13A3E-FCC5-4FFF-A6F0-8A55AD41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五块内容支撑一个完整交付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8546C-F48C-48F6-862E-68D03A21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555CB-0422-4A9B-9F7D-ADBB7F0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141220" cy="2381250"/>
          </a:xfrm>
          <a:prstGeom xmlns:a="http://schemas.openxmlformats.org/drawingml/2006/main" prst="roundRect">
            <a:avLst>
              <a:gd name="adj" fmla="val 355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46C5C-EDD0-4528-964A-0370E587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17602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项目实践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71B5F-85E3-47A3-B6FC-9E0094A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76022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以真实软件为主线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CDE84-04C8-431F-948D-E7AE55B3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228850"/>
            <a:ext cx="2141220" cy="2381250"/>
          </a:xfrm>
          <a:prstGeom xmlns:a="http://schemas.openxmlformats.org/drawingml/2006/main" prst="roundRect">
            <a:avLst>
              <a:gd name="adj" fmla="val 355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AB90B-9AF0-409B-8A62-EBB55018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2495550"/>
            <a:ext cx="17602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DD69F-4FC7-4D40-A3C2-1B2A86CB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3095625"/>
            <a:ext cx="176022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把任务说清、把输出审清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007B6-7A03-4C08-BE09-5ADBBD92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228850"/>
            <a:ext cx="2141220" cy="2381250"/>
          </a:xfrm>
          <a:prstGeom xmlns:a="http://schemas.openxmlformats.org/drawingml/2006/main" prst="roundRect">
            <a:avLst>
              <a:gd name="adj" fmla="val 355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9F306-2020-40FA-A77C-15F38F9C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495550"/>
            <a:ext cx="17602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辅助技能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5C3E9-1086-4D67-A4BE-360CD374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3095625"/>
            <a:ext cx="176022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Skills 支撑分析与评审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C63E0-2061-405B-93C0-0C792E5C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228850"/>
            <a:ext cx="2141220" cy="2381250"/>
          </a:xfrm>
          <a:prstGeom xmlns:a="http://schemas.openxmlformats.org/drawingml/2006/main" prst="roundRect">
            <a:avLst>
              <a:gd name="adj" fmla="val 355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3DF67-D7CC-4F25-A6C5-2797E991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2495550"/>
            <a:ext cx="17602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全流程开发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B71EC-8D68-4ECE-AF35-8099BEF7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3095625"/>
            <a:ext cx="176022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编码、测试、部署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D61A5-F120-41BD-B4CB-866141AB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228850"/>
            <a:ext cx="2141220" cy="2381250"/>
          </a:xfrm>
          <a:prstGeom xmlns:a="http://schemas.openxmlformats.org/drawingml/2006/main" prst="roundRect">
            <a:avLst>
              <a:gd name="adj" fmla="val 3559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F3F32-0D2E-4CE3-918F-9EEED842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2495550"/>
            <a:ext cx="17602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文档撰写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6C230-FBF8-4E94-9C6B-B88FD6EA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3095625"/>
            <a:ext cx="176022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让项目可追溯、可交付</a:t>
            </a:r>
          </a:p>
        </p:txBody>
      </p:sp>
    </p:spTree>
    <p:extLst>
      <p:ext uri="{BB962C8B-B14F-4D97-AF65-F5344CB8AC3E}">
        <p14:creationId xmlns:p14="http://schemas.microsoft.com/office/powerpoint/2010/main" val="12164470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09D74-6CD2-4495-B525-BA3302B5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2B425-7818-460D-9251-BA48CE77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先用图书管理系统跑通闭环，再做自己的项目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DFA9B-697C-476F-8482-FFF4AD8A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da532e8eb47b9"/>
          <a:srcRect xmlns:a="http://schemas.openxmlformats.org/drawingml/2006/main" l="13514" t="0" r="135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24000"/>
            <a:ext cx="53340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06a7df3844b38"/>
          <a:srcRect xmlns:a="http://schemas.openxmlformats.org/drawingml/2006/main" l="12404" t="0" r="12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524000"/>
            <a:ext cx="57912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6AEAA-9D47-45BD-A87F-C54EB105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用户端：查书、借阅、归还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0CEA1-D888-4F06-8F36-F82CDC9E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管理端：图书、用户、借阅记录</a:t>
            </a:r>
          </a:p>
        </p:txBody>
      </p:sp>
    </p:spTree>
    <p:extLst>
      <p:ext uri="{BB962C8B-B14F-4D97-AF65-F5344CB8AC3E}">
        <p14:creationId xmlns:p14="http://schemas.microsoft.com/office/powerpoint/2010/main" val="20086099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91ADC-322B-437B-B862-5AC26F9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ABACD-4FD8-4460-B866-8B57B5D8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协作是一条可复用的工作链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77B2F-3FE9-4262-A756-0AD5093B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F00C5-4903-49F9-9ADA-882F9E6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F7DD1-78B0-4F72-8460-579E41B8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1658B-7DF4-4BA4-B8B8-69CC6A00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明确任务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F46F6-495F-4075-B716-A17CCD6C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812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F1E93-6BE2-47F0-8A0D-2A4D3707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552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3D001-4148-417E-9B32-8835A6A7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924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提供上下文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55121-59B1-478D-B8C3-7AF03D1E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45ACE-EC85-4907-9CE1-8B58A331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31546-0E0B-4A6F-A88D-5BA36A4A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24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提方案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F8E6B-DDDE-4166-8C68-8ED9F93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812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34485-2C6B-40C3-9AAC-F1D56628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52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F7F89-797F-4B4F-BDA3-CBF9FC29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24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人工审核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D6A5E-E09F-4F25-A82A-D2D0531A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4E54B-87E7-4278-8B9B-5D7BE16A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AD829-411A-4FC1-813F-3A11B618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分步实现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0C4BE-6E63-4E41-B073-D194BDF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68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BA33F-BE4E-4B80-89A3-1F2A3E25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52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E4720-A8B6-44D3-9A2D-5D41CCA1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924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A19EC-BE66-4185-BDA4-23A7B6AD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边界：所有生成内容都必须阅读、运行、测试和修改。</a:t>
            </a:r>
          </a:p>
        </p:txBody>
      </p:sp>
    </p:spTree>
    <p:extLst>
      <p:ext uri="{BB962C8B-B14F-4D97-AF65-F5344CB8AC3E}">
        <p14:creationId xmlns:p14="http://schemas.microsoft.com/office/powerpoint/2010/main" val="181671005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1187C-0D41-4D1A-A19E-96AAA3BB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C1E0A-DBBA-43B5-8EA0-3D664D38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五个 Skills，覆盖分析与设计关键节点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7DE0F-4DCB-456E-8729-43D1C0E8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814BA-0C52-40F2-9F7C-BDC615C5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topic-selection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B5FE9-9A61-42F9-8CC6-4590216B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716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选题引导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E165C-A21F-4AC5-8DD0-0348AA13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426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08C3A-92E5-4E9F-84CA-FD6DB7E9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requirements-analysis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16558-94B0-4386-99EB-CF82DE87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36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需求分析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DEEE7-D080-407C-AED5-9076E75B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426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14708-8AD1-4D6E-8B70-43ADEB00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requirements-review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580FE-876B-4DF0-A394-155CEE97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需求评审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ED412-58C6-4694-802C-9F7C256A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426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3F546-F700-43E7-AB81-BF7AFCB8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system-design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E6B2D-11F3-4CFD-AE6D-6C20CFAC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系统设计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AB09B-DBA9-4F8B-81A8-8130DB0E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426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1709E-EA40-489A-BCD4-54CF3FD3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system-design-review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A4521-18DA-4610-B9B6-E43E5635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196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设计评审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BE196-A88B-4EBF-A456-F7845EAE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426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0D7B6-9AB2-4D79-820E-02C36C8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不虚构事实，学生对最终成果负责</a:t>
            </a:r>
          </a:p>
        </p:txBody>
      </p:sp>
    </p:spTree>
    <p:extLst>
      <p:ext uri="{BB962C8B-B14F-4D97-AF65-F5344CB8AC3E}">
        <p14:creationId xmlns:p14="http://schemas.microsoft.com/office/powerpoint/2010/main" val="3551595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41100-289A-42D8-93E9-0A4FE5BC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65511-3297-4DB4-909C-793813C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文档必须与实际项目保持一致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0FC69-E4AC-41D1-A33A-A923DA74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A0EC0-ADC9-4B3F-8CFA-D9691630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全流程开发：编码、测试、部署持续推进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交付文档：项目说明、测试报告、README、答辩材料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需求、设计、代码和测试要能互相对应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94493-8529-421C-B289-D1909FDF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552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917E1-29F7-4CB5-8531-68305E87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一致性链条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727BF-3D54-4C1C-90CD-1270A5E5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需求写了什么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设计如何承接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代码怎样实现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测试如何证明</a:t>
            </a:r>
          </a:p>
        </p:txBody>
      </p:sp>
    </p:spTree>
    <p:extLst>
      <p:ext uri="{BB962C8B-B14F-4D97-AF65-F5344CB8AC3E}">
        <p14:creationId xmlns:p14="http://schemas.microsoft.com/office/powerpoint/2010/main" val="127511281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0C295-9E99-4466-9356-BB2B0F4E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E67E6-4D78-4E14-88F7-14FF45D4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过程成绩高于一次答辩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0263F-DA2A-4EB3-97DE-E13DF836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4857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e00eefcbd24b3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F05A5-3B5C-4340-A6A2-FC2DB6F5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阶段任务与过程验收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E020D-C1C6-487A-890C-9CA665C6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24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30%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4B3B5-66F2-48BE-A3A5-A1277EFA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050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94C61-28AF-4100-A7B6-551F08D7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621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需求、设计和测试文档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A2586-FDCB-4A67-9CBD-BF939FE7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621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52250-1822-42D9-80BE-2A3DE5F9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31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DDF51-7559-4B93-AC2F-75725F1F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项目功能与业务闭环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77160-5431-474E-AF47-FBB0BB9B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00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2A16C-53B2-460B-9C45-F4C2BB30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813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48DD4-E88C-48B9-810F-64B9B638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385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协作与问题解决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D67C0-5A7D-4F35-B924-4EB58EB6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385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1DD32-C607-4F71-AD58-C9B19229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95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47E01-17D5-48B6-9976-8044582A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部署、展示与答辩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B31EE-5260-4966-9138-D83884AA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7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2E3A8-20C5-4C7E-A534-B81CB9F7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77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604F3-6EBC-4F72-8718-8ABFE6BB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团队协作与个人贡献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1429A-2923-45D8-B4BB-EE8C7E8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14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B66CD-B736-4EF0-A2F4-BAC3008E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23071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42D09-6811-433A-ACBF-38064783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B28BF-8D3F-4FF9-8D4E-85B9BBB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平时表现看得见，进步也要留痕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02695-A55B-4E77-A7DF-E9B79970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6F8DA-21E7-462D-AA77-3E8B133C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出勤与课堂实践参与度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每周成果：Git 提交、阶段任务卡、项目周报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评价进度真实性与持续改进情况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2B71B-5163-41B3-BE28-D4B17B4C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552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8EE6-A08F-41B8-BB85-3BAE3C56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每周留下证据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95497-911C-46B2-8000-910BF53A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做了什么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验证了什么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遇到什么问题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下一步是什么</a:t>
            </a:r>
          </a:p>
        </p:txBody>
      </p:sp>
    </p:spTree>
    <p:extLst>
      <p:ext uri="{BB962C8B-B14F-4D97-AF65-F5344CB8AC3E}">
        <p14:creationId xmlns:p14="http://schemas.microsoft.com/office/powerpoint/2010/main" val="12947530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0537B-51AF-4E6C-8308-BF9D5A49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FB211-7AA3-45D1-862B-384C5DD5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五个节点，把 16 周切成可交付的小阶段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36F82-184A-4E91-8AA1-93946F38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8D166-94FE-40C8-B786-EF7145B5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521C0-EA7D-43AC-A027-189F00A6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6D666-F7E4-4200-99E2-6A396CA3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第 2 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A5122-7D51-47BC-8DF1-F89D3F9E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立项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7C8FF-DF7A-41F6-832E-8A8695A0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项目立项书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2CF04-AFCC-4895-BB28-C8C5A32F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A5774-96CC-483F-933E-BB10B7CD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765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第 4 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42E2C-B0AE-43C1-89C1-1726B4A4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242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686CB-0746-422A-AF45-E009AEBC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00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需求与系统设计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224B4-06F9-4DEA-9642-4F2AAAD9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B210B-2BF2-441F-9F96-5DD6800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第 6 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C20A4-2F02-4C59-B4BE-9579B720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启动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28652-90FE-40C8-9C6F-2F10D7BA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可运行项目骨架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C2968-5124-4628-B090-86AF2761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C60C3-CDD5-4E9A-95C7-02E16E7E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第 11 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7CE5A-885A-4203-82FD-590DC912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242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65A1B-8681-4DBF-B29A-050B66B4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可演示业务闭环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FC0BB-6D98-4C56-8E18-78CE8ED1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3DE8E-FD9E-4899-8236-C2A94385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第 16 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F151E-6E7E-4986-A78D-FE96D68F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242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答辩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5A2DC-EDA5-477F-BE41-AC07DAB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最终作品与总结</a:t>
            </a:r>
          </a:p>
        </p:txBody>
      </p:sp>
    </p:spTree>
    <p:extLst>
      <p:ext uri="{BB962C8B-B14F-4D97-AF65-F5344CB8AC3E}">
        <p14:creationId xmlns:p14="http://schemas.microsoft.com/office/powerpoint/2010/main" val="2239976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A3837-0AE4-432C-A9F8-8350C91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EE1C3-EB45-4791-9148-0DAEE143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答辩验证的是作品，更是真实贡献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635E3-8DCF-439E-87C2-AE3BA54C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31185-A152-48EB-B76F-FCCF7C61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项目能运行，业务闭环完整，功能与文档一致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能演示、解释核心代码，并说明本人贡献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能展示 AI 参与过程和审查修改记录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DAAA4-DD13-4834-8963-9BA600C5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552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EC9CA-C1A6-4318-B05F-A9B137A7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三条红线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302F7-162A-42A8-B94F-40304B90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不能运行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不能解释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无法说明来源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→ 不认定为有效成果</a:t>
            </a:r>
          </a:p>
        </p:txBody>
      </p:sp>
    </p:spTree>
    <p:extLst>
      <p:ext uri="{BB962C8B-B14F-4D97-AF65-F5344CB8AC3E}">
        <p14:creationId xmlns:p14="http://schemas.microsoft.com/office/powerpoint/2010/main" val="64221384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DD264-6450-4C1C-8323-EDCCD186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2FDF5-7DCD-4385-9E74-66B76CBB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Trae：把 AI 对话放进真实项目上下文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5248E-03C5-403B-BAD8-0EE8CF3D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cc348a6c646a9"/>
          <a:srcRect xmlns:a="http://schemas.openxmlformats.org/drawingml/2006/main" l="12817" t="0" r="128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381125"/>
            <a:ext cx="5600700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FD387-03BE-4398-B89D-F1143C4A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AI 对话与代码生成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理解项目上下文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诊断和修复 Bug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与 Git、Apifox、MySQL 配合</a:t>
            </a:r>
          </a:p>
        </p:txBody>
      </p:sp>
    </p:spTree>
    <p:extLst>
      <p:ext uri="{BB962C8B-B14F-4D97-AF65-F5344CB8AC3E}">
        <p14:creationId xmlns:p14="http://schemas.microsoft.com/office/powerpoint/2010/main" val="18196192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E2E11-CF55-4944-B7D8-FD481E2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DBB8C-E982-4683-87FA-89EA9116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先完成安装，再逐项确认环境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D40C6-372E-48D7-BD91-EE82C6CC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0ED3C-A06D-4004-ABD3-EFCF31D2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239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A0A66-D21C-4E41-AB12-94D23CFF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Trae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7C921-6DB5-43DB-8714-E72D89E6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4305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下载安装，注册并登录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7DE4F-971E-4726-9F2E-B8813205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239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C6828-F148-43AE-969F-D1A4F145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JDK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D7E12-8CC9-4D66-9734-D294DB9C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5742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741D9-4A9F-441E-A772-0916B95C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11239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C2B94-5815-4E8C-9D0B-97B6DC0E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Maven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69DDB-54B8-450F-8DB4-70E5ACD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依赖与构建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C090E-C797-48BE-A672-CCE8061D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239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C8CCB-E213-4197-9DF6-E039127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Node.js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A47FD-6B20-455B-BAEF-2E50EC09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8617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前端工具链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69297-1DED-4800-A081-58D74615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1239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4E17E-2E85-48B2-AFCC-6E662C65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MySQL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7896E-2372-437E-ADA1-7F8953D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0055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数据库连接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97507-C570-40BB-9E02-94834E2B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239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63E16-E645-4DC4-BC24-8E4085C0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149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课程 Skills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B6E42-51C2-4305-8CE0-65285B6B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1492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npx @dedeguo/software-project-training-skills</a:t>
            </a:r>
          </a:p>
        </p:txBody>
      </p:sp>
    </p:spTree>
    <p:extLst>
      <p:ext uri="{BB962C8B-B14F-4D97-AF65-F5344CB8AC3E}">
        <p14:creationId xmlns:p14="http://schemas.microsoft.com/office/powerpoint/2010/main" val="15614759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BCA4A-F6F9-41E5-905A-6BC6B615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882F2-0197-4E1A-8F05-3B7F99CB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一次高质量对话，从“把任务说清”开始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E3AC2-C0E6-4EA8-B13E-CA4B423F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314D5-0076-4FB8-9973-59EB7C80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BD812-D25C-4D8F-9E3A-12D331BB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 明确任务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E93B2-388F-4DB7-A878-6A006D89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具体到功能、范围和验收标准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088CF-0E69-437B-80F6-A895B27A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238375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81DBB-1A1D-4E3E-B087-219EDA66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505075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 提供上下文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DF2BF-8E16-47E2-BFFF-077F5D98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105150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指出相关文档、代码和报错日志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94CEC-DEFC-4FB8-8C99-9423C4B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38375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74075-6C91-43FC-BE95-E77BF5FC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05075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 审核方案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E8CBF-E3C0-46F4-803C-34434C8B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05150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先确认步骤，再让 AI 分步修改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7E6F6-78CC-4F4D-B536-FA579149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238375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94403-B5DA-47E9-B889-BEB6798F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505075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 运行验证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CD25D-7A8F-46C5-8EB5-57C5843A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3105150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检查结果，反馈真实输出</a:t>
            </a:r>
          </a:p>
        </p:txBody>
      </p:sp>
    </p:spTree>
    <p:extLst>
      <p:ext uri="{BB962C8B-B14F-4D97-AF65-F5344CB8AC3E}">
        <p14:creationId xmlns:p14="http://schemas.microsoft.com/office/powerpoint/2010/main" val="65420096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854FD-A47A-4322-8285-99CF77E2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361B2-0B12-4DAE-A740-02B2FDDC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课堂实操：让图书管理系统先跑起来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E4144-1164-439D-ACB8-5003E0B8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470bd25e54a51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381125"/>
            <a:ext cx="474345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C6967-6DE2-44B4-9F69-678928E5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715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导入模板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阅读需求与设计文档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配置数据库并启动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浏览器验证业务流程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A7EE6-A183-4A2D-8E81-23588B0C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验收：登录 → 查询图书 → 借阅 / 归还，至少完成一条流程</a:t>
            </a:r>
          </a:p>
        </p:txBody>
      </p:sp>
    </p:spTree>
    <p:extLst>
      <p:ext uri="{BB962C8B-B14F-4D97-AF65-F5344CB8AC3E}">
        <p14:creationId xmlns:p14="http://schemas.microsoft.com/office/powerpoint/2010/main" val="10155801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3C277-3F14-4B89-9C5C-DD125EE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B1999-9DDE-4F58-89B3-E15487AC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遇到问题，先把现场信息保留下来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2ACCF-087F-4B5C-808F-83770D3A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388FB-23D7-4A63-899A-4B9C165D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68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F80B4-0E34-48D9-B8E9-7D9A6FFA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环境类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739B5-330B-44D3-86E9-C60B77C7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330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JDK / Node 版本不匹配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MySQL 无法连接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108BA-8D5E-4CFC-B5E8-7BBEE922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133600"/>
            <a:ext cx="368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1CDF4-893F-43CD-B174-2DE1E634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400300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启动类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D2556-13DB-4C9D-8EFB-3FAE7EB0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00375"/>
            <a:ext cx="330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端口占用、依赖下载失败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Tomcat 部署报错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E09DA-2A38-4478-B865-E809E704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133600"/>
            <a:ext cx="368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6C7E8-22E2-4817-B057-36065C25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400300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CE35A-B56C-4790-AB5C-B549FDF0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0375"/>
            <a:ext cx="330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方案不符：补充上下文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代码报错：提供完整日志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C6043-D66E-4599-86F6-E534A21C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求助模板：复现步骤 + 预期结果 + 实际结果 + 完整日志</a:t>
            </a:r>
          </a:p>
        </p:txBody>
      </p:sp>
    </p:spTree>
    <p:extLst>
      <p:ext uri="{BB962C8B-B14F-4D97-AF65-F5344CB8AC3E}">
        <p14:creationId xmlns:p14="http://schemas.microsoft.com/office/powerpoint/2010/main" val="206639174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76F4A-98AD-490C-972F-59EEADDD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5D077-9B21-498F-9826-256A0041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今天结束前，完成三项打卡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2D21F-A2C0-4D0F-AF7D-B9C739C6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D230F-4496-4996-A4D8-801D228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68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84E72-73D1-4CD3-A1A7-CF899B67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必做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CA592-61C4-497A-8D2E-1F0E5E81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330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 Trae 安装与登录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5BA2E-4A99-4C60-8870-D7111D19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190750"/>
            <a:ext cx="368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FFF6E-8F6B-4A13-BBF2-42EA362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457450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必做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50D84-FE5E-46D4-905F-9EAEC593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57525"/>
            <a:ext cx="330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安装课程 Skills 并确认目录生成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41090-CBC2-402F-BE52-6DBBCE1E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190750"/>
            <a:ext cx="368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5BF7D-ADB7-4A3C-BF96-BAD35726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457450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必做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6C430-E1AE-48C5-9954-44DABF4E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57525"/>
            <a:ext cx="330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启动图书管理系统，验证一条流程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08389-47B9-4895-AA13-1CDB27DB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课后：体验角色与业务，阅读需求分析说明书｜下节课：AI 工具进阶与协作规则</a:t>
            </a:r>
          </a:p>
        </p:txBody>
      </p:sp>
    </p:spTree>
    <p:extLst>
      <p:ext uri="{BB962C8B-B14F-4D97-AF65-F5344CB8AC3E}">
        <p14:creationId xmlns:p14="http://schemas.microsoft.com/office/powerpoint/2010/main" val="132186062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65923-8C09-42F6-8B8D-4CFB0A3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118F1-DCC4-4733-8B0E-ABCCD863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16 周：每个阶段都交付一个看得见的结果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97493-D162-440E-A013-A810370F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412CD-92B7-4667-AC80-BC2E6264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676400" cy="2381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9C9FE-21DF-48B1-A8EC-75E59DB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E9DB5-9F27-4157-A8D4-A0A9AD7E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项目启动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826DB-9B7E-4B0E-9787-11754EA0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立项书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63C99-6A86-4C1B-8192-7CE7CDC5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52625"/>
            <a:ext cx="1676400" cy="2381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27635-F3FC-4D95-AF7E-3A5743EC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3–4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A7160-1FA7-4991-AAC0-EFD77D12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622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需求与设计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33383-5BBF-4D8A-8DFC-604F85B8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6195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需求与设计文档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7F51E-D6EC-40A5-97C9-8608F968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1676400" cy="2381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BCD31-A37E-4159-A400-51D356C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5–6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5380B-CA6A-4A18-9812-A7D494D6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622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项目搭建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C1135-06FB-4B76-B9E9-F3A708B8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可运行骨架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46970-3E60-4D36-8C86-7ED70952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1676400" cy="2381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785D1-093D-4A57-8111-588BDF27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7–11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55356-3F30-417E-A6DF-8138D959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622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核心开发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D95BA-947A-4871-AB6E-0FAF9719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195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业务闭环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92071-D790-4FD5-B599-BDFA4F0E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1676400" cy="2381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6200D-5FAB-4024-A006-06F973C3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12–15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48AB4-4EED-42F1-B5C9-29922F2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完善交付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E0DDE-1E16-4916-BC76-18D826A1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完整项目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24757-9C97-4737-99EB-90A7ECF2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52625"/>
            <a:ext cx="1676400" cy="2381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3C733-8EAC-4A15-8EBD-6A1893DD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A2454-5CBA-45E2-A731-2EEA3A7A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622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展示评价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01BE1-7890-4534-8091-C8422B11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195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作品与总结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441229-9C72-43D1-BD1D-C930A6D5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每节课：20% 讲解 + 30% 示范拆解 + 50% 项目实践</a:t>
            </a:r>
          </a:p>
        </p:txBody>
      </p:sp>
    </p:spTree>
    <p:extLst>
      <p:ext uri="{BB962C8B-B14F-4D97-AF65-F5344CB8AC3E}">
        <p14:creationId xmlns:p14="http://schemas.microsoft.com/office/powerpoint/2010/main" val="89447347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DC82C-0860-42A8-8B9E-AD004C46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701D5-90C9-4542-AF20-000C92D8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资源要围绕当下任务使用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55207-08D9-4F76-A5C9-0373EB8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F250B-4B55-474C-9E09-BE073C9B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课程网站：三篇教材与配套模板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模板仓库：图书管理系统与项目脚手架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文档模板：立项、需求、设计、测试报告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工具文档：Trae 官方文档与 MkDocs 站点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30268-7681-407A-8F67-E8BF6DF2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552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08A6-9EB8-4C30-BCD5-49D44C1F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使用顺序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8A9B5-A8DF-4180-B4E0-2F62A76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先看课程任务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再找对应模板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完成后立即验证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最后提交留痕</a:t>
            </a:r>
          </a:p>
        </p:txBody>
      </p:sp>
    </p:spTree>
    <p:extLst>
      <p:ext uri="{BB962C8B-B14F-4D97-AF65-F5344CB8AC3E}">
        <p14:creationId xmlns:p14="http://schemas.microsoft.com/office/powerpoint/2010/main" val="23777149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850C9-38CB-4303-9CE5-EB408531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C90B8-680F-4115-B5E7-E167A0CB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高效学习的关键，是持续完成小闭环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254D2-17FD-424C-9E97-C59DA2F4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1DA96-6B7F-412D-A34E-97FCC692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三先三后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702F9-0859-481E-B9B5-3BE4CA38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先看见成果，再学知识</a:t>
            </a:r>
          </a:p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先保证运行，再追求高级</a:t>
            </a:r>
          </a:p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先核心闭环，再特色功能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13DBB-DAEB-415C-A84F-E33485BD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56959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B3A0E-E34D-43A3-8B48-F51BC83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每周一个可验证小目标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E598B-7231-42D3-8DF0-EB40AE55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做完立即验证、记录、提交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宁可小而完整、能讲清楚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用好 AI：验证、修改、解释、负责</a:t>
            </a:r>
          </a:p>
        </p:txBody>
      </p:sp>
    </p:spTree>
    <p:extLst>
      <p:ext uri="{BB962C8B-B14F-4D97-AF65-F5344CB8AC3E}">
        <p14:creationId xmlns:p14="http://schemas.microsoft.com/office/powerpoint/2010/main" val="112105777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F0277-5C3D-4FCE-8899-967316BE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49C33-A897-4624-9258-D8DF4B36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提问越具体，得到的帮助越有效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D0174-0B55-44EC-8FD2-4A88B659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86AD4-5582-4AB3-BDF6-7E097A47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课堂：现场答疑与结对排查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课后：课程群、答疑社区、AI 助教</a:t>
            </a:r>
          </a:p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提交与反馈：以 Git 仓库和作业平台为准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18AEA-C5AD-476B-BC63-62874C72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552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DD434-5EDE-4815-9E97-0C16C8D0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带着这些来求助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8E23D-8692-49E4-975A-4ADBE944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你在做什么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卡在哪里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已经尝试什么</a:t>
            </a:r>
          </a:p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日志或截图是什么</a:t>
            </a:r>
          </a:p>
        </p:txBody>
      </p:sp>
    </p:spTree>
    <p:extLst>
      <p:ext uri="{BB962C8B-B14F-4D97-AF65-F5344CB8AC3E}">
        <p14:creationId xmlns:p14="http://schemas.microsoft.com/office/powerpoint/2010/main" val="125529293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1A6B4-BCB8-47B6-B4FF-3349E66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8D71E-4D22-4EE3-AFFC-48C18E37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你可能已经在想这些问题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63663-9082-42B5-A661-042BE457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4B786-77E7-4636-9417-CBB2A3DF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04A01-62B8-4B7A-8914-ACD22F5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技术选型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F6046-1BFF-4DE0-B43A-D95CFC31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不熟悉 Spring Boot，能否使用 Servlet？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D2E72-B0F5-4E33-9F7C-085DB45C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095500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91826-4A1D-4E0E-95F3-89DFC8E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362200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组队规则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E2916-1855-4801-97AC-444FE9C3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962275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什么时候适合组队？如何认定个人贡献？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B080F-BD78-44E8-9958-6B4E2844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95500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5493E-5463-4FA0-A8F7-44E1978F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62200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57FA4-C3F2-4F8C-8FB0-A92D5AD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62275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哪些可以让 AI 做？哪些必须自己掌握？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FE4C1-7AB5-412B-94EC-E920A7E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95500"/>
            <a:ext cx="2719388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0D835-8243-43E5-B810-21076AE1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362200"/>
            <a:ext cx="23383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考核细节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19439-F9F3-4AA8-9AD4-21D74AAE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962275"/>
            <a:ext cx="23383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每周成果如何提交与验收？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9E724-5CE7-48A2-AE7B-49D91974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现在开放提问</a:t>
            </a:r>
          </a:p>
        </p:txBody>
      </p:sp>
    </p:spTree>
    <p:extLst>
      <p:ext uri="{BB962C8B-B14F-4D97-AF65-F5344CB8AC3E}">
        <p14:creationId xmlns:p14="http://schemas.microsoft.com/office/powerpoint/2010/main" val="47715178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1578E-978C-4631-94EE-BEA5089E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84FF"/>
                </a:solidFill>
                <a:latin typeface="PingFang SC"/>
                <a:ea typeface="PingFang SC"/>
                <a:cs typeface="PingFang SC"/>
              </a:rPr>
              <a:t>软件开发综合项目实训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87D01-7635-4750-9AE2-FB660CBE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写下你的方向，课程才真正开始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CF2E5-C379-4374-B4C5-A04D154C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B307B-BCB0-4790-A4A7-555AA893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429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9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17431-17CE-48B0-9E41-756BFF04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我想做的项目方向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D6D6D-7ADA-4980-83EE-6A5F3E8B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它要解决的问题：</a:t>
            </a:r>
          </a:p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82E71-A353-458F-BAF2-5FF80498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56007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7BA1F-B59E-4CD7-87C2-85474761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我最想收获的能力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79A89-CC90-4640-ABFA-68EFCC6F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□ 独立完成项目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□ 与 AI 高效协作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□ 部署与展示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□ 为毕业设计做准备</a:t>
            </a:r>
          </a:p>
        </p:txBody>
      </p:sp>
    </p:spTree>
    <p:extLst>
      <p:ext uri="{BB962C8B-B14F-4D97-AF65-F5344CB8AC3E}">
        <p14:creationId xmlns:p14="http://schemas.microsoft.com/office/powerpoint/2010/main" val="12774008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EB880-208D-40E0-B8DE-068E7707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4C7F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4C7F3"/>
                </a:solidFill>
                <a:latin typeface="PingFang SC"/>
                <a:ea typeface="PingFang SC"/>
                <a:cs typeface="PingFang SC"/>
              </a:rPr>
              <a:t>一学期，只做一件事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CD8A0-9C95-44C4-AAA5-8BB777D8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把一个想法，</a:t>
            </a:r>
          </a:p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做成能运行、能讲清、能展示的作品。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1804A-C591-4F86-848C-ACB46042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C7F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4C7F3"/>
                </a:solidFill>
                <a:latin typeface="PingFang SC"/>
                <a:ea typeface="PingFang SC"/>
                <a:cs typeface="PingFang SC"/>
              </a:rPr>
              <a:t>课后任务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A69A7-5F90-4AE1-8B25-6FC17E2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体验图书管理系统 · 阅读需求分析说明书 · 记录第一个项目方向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4552F-B557-4A0F-9B66-98020E9C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1C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9C1CC"/>
                </a:solidFill>
                <a:latin typeface="PingFang SC"/>
                <a:ea typeface="PingFang SC"/>
                <a:cs typeface="PingFang SC"/>
              </a:rPr>
              <a:t>下节课：AI 工具进阶与 AI 协作规则</a:t>
            </a:r>
          </a:p>
        </p:txBody>
      </p:sp>
    </p:spTree>
    <p:extLst>
      <p:ext uri="{BB962C8B-B14F-4D97-AF65-F5344CB8AC3E}">
        <p14:creationId xmlns:p14="http://schemas.microsoft.com/office/powerpoint/2010/main" val="457811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2026-08-12T03:33:33.3300000Z</dcterms:created>
  <dcterms:modified xsi:type="dcterms:W3CDTF">2026-08-12T03:33:33.3300000Z</dcterms:modified>
</coreProperties>
</file>